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114" r:id="rId3"/>
    <p:sldId id="2934" r:id="rId5"/>
    <p:sldId id="2935" r:id="rId6"/>
    <p:sldId id="2936" r:id="rId7"/>
    <p:sldId id="2937" r:id="rId8"/>
    <p:sldId id="2939" r:id="rId9"/>
    <p:sldId id="2940" r:id="rId10"/>
    <p:sldId id="2941" r:id="rId11"/>
    <p:sldId id="2942" r:id="rId12"/>
    <p:sldId id="2867" r:id="rId13"/>
    <p:sldId id="2868" r:id="rId14"/>
    <p:sldId id="2943" r:id="rId15"/>
    <p:sldId id="2944" r:id="rId16"/>
    <p:sldId id="2945" r:id="rId17"/>
    <p:sldId id="2946" r:id="rId18"/>
    <p:sldId id="2947" r:id="rId19"/>
    <p:sldId id="2948" r:id="rId20"/>
    <p:sldId id="2949" r:id="rId21"/>
    <p:sldId id="2954" r:id="rId22"/>
    <p:sldId id="2953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琳妤 王" initials="" lastIdx="0" clrIdx="0"/>
  <p:cmAuthor id="1" name="荣珊" initials="荣" lastIdx="1" clrIdx="0"/>
  <p:cmAuthor id="2" name="K31421" initials="K" lastIdx="1" clrIdx="1"/>
  <p:cmAuthor id="3" name="edu" initials="e" lastIdx="18" clrIdx="2"/>
  <p:cmAuthor id="4" name="chuen" initials="chuen" lastIdx="13" clrIdx="3"/>
  <p:cmAuthor id="8" name="覃" initials="覃" lastIdx="27" clrIdx="7"/>
  <p:cmAuthor id="9" name="a" initials="a" lastIdx="1" clrIdx="8"/>
  <p:cmAuthor id="5" name="seven" initials="s" lastIdx="16" clrIdx="4"/>
  <p:cmAuthor id="6" name="Administrator" initials="A" lastIdx="1" clrIdx="5"/>
  <p:cmAuthor id="7" name="任" initials="任" lastIdx="1" clrIdx="6"/>
  <p:cmAuthor id="10" name="hp" initials="h" lastIdx="25" clrIdx="9"/>
  <p:cmAuthor id="75" name="作者" initials="A" lastIdx="0" clrIdx="24"/>
  <p:cmAuthor id="13" name="Microsoft Office User" initials="MOU" lastIdx="2" clrIdx="12"/>
  <p:cmAuthor id="11" name="Apple" initials="A" lastIdx="17" clrIdx="10"/>
  <p:cmAuthor id="12" name="hep" initials="h" lastIdx="8" clrIdx="1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DEF"/>
    <a:srgbClr val="FFCDCD"/>
    <a:srgbClr val="B00000"/>
    <a:srgbClr val="FF9000"/>
    <a:srgbClr val="9E0406"/>
    <a:srgbClr val="FFFDFD"/>
    <a:srgbClr val="E95865"/>
    <a:srgbClr val="FFFDEB"/>
    <a:srgbClr val="F7C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5" autoAdjust="0"/>
    <p:restoredTop sz="93879" autoAdjust="0"/>
  </p:normalViewPr>
  <p:slideViewPr>
    <p:cSldViewPr snapToGrid="0" showGuides="1">
      <p:cViewPr>
        <p:scale>
          <a:sx n="80" d="100"/>
          <a:sy n="80" d="100"/>
        </p:scale>
        <p:origin x="702" y="5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2791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5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70D4F-9E4A-49DE-8109-90CDAC769F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C695A-5F97-42A9-BC5B-16E22B1DDB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C695A-5F97-42A9-BC5B-16E22B1DDB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8439785" y="210820"/>
            <a:ext cx="3649980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第十讲  建设社会主义文化强国</a:t>
            </a:r>
            <a:endParaRPr lang="zh-CN" altLang="en-US" sz="1100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102090" y="6440805"/>
            <a:ext cx="302450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习近平新时代中国特色社会主义思想概论</a:t>
            </a:r>
            <a:endParaRPr lang="zh-CN" altLang="en-US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45719" y="184281"/>
            <a:ext cx="6345556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</a:t>
            </a:r>
            <a:r>
              <a:rPr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为什么建设中国特色社会主义文化</a:t>
            </a:r>
            <a:endParaRPr lang="zh-CN" sz="1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45719" y="184281"/>
            <a:ext cx="451833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sz="11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为什么要坚持马克思主义在意识形态领域指导地位的根本制度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102090" y="6440805"/>
            <a:ext cx="302450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习近平新时代中国特色社会主义思想概论</a:t>
            </a:r>
            <a:endParaRPr lang="zh-CN" altLang="en-US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8439785" y="210820"/>
            <a:ext cx="3649980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第十讲  建设社会主义文化强国</a:t>
            </a:r>
            <a:endParaRPr lang="zh-CN" altLang="en-US" sz="1100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45719" y="184281"/>
            <a:ext cx="634555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三、为什么要用社会主义核心价值观凝心聚力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9102090" y="6440805"/>
            <a:ext cx="302450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习近平新时代中国特色社会主义思想概论</a:t>
            </a:r>
            <a:endParaRPr lang="zh-CN" altLang="en-US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8439785" y="210820"/>
            <a:ext cx="3649980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第十讲  建设社会主义文化强国</a:t>
            </a:r>
            <a:endParaRPr lang="zh-CN" altLang="en-US" sz="1100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5719" y="184281"/>
            <a:ext cx="6345556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四、以高度的文化自信铸就社会主义文化新辉煌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9102090" y="6440805"/>
            <a:ext cx="302450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习近平新时代中国特色社会主义思想概论</a:t>
            </a:r>
            <a:endParaRPr lang="zh-CN" altLang="en-US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8439785" y="210820"/>
            <a:ext cx="3649980" cy="260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第十讲  建设社会主义文化强国</a:t>
            </a:r>
            <a:endParaRPr lang="zh-CN" altLang="en-US" sz="1100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184281"/>
            <a:ext cx="12089840" cy="298672"/>
            <a:chOff x="0" y="184281"/>
            <a:chExt cx="12089840" cy="298672"/>
          </a:xfrm>
        </p:grpSpPr>
        <p:sp>
          <p:nvSpPr>
            <p:cNvPr id="7" name="矩形 6"/>
            <p:cNvSpPr/>
            <p:nvPr userDrawn="1"/>
          </p:nvSpPr>
          <p:spPr>
            <a:xfrm>
              <a:off x="10050308" y="210506"/>
              <a:ext cx="2039532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1100" spc="120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第五讲 </a:t>
              </a:r>
              <a:r>
                <a:rPr lang="zh-CN" altLang="en-US" sz="1100" spc="12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全面深化改革</a:t>
              </a:r>
              <a:endPara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45719" y="184281"/>
              <a:ext cx="2160000" cy="278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一、为什么要全面深化改革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0" y="184281"/>
              <a:ext cx="45719" cy="2986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 userDrawn="1"/>
        </p:nvSpPr>
        <p:spPr>
          <a:xfrm>
            <a:off x="9037605" y="6480000"/>
            <a:ext cx="30522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习近平新时代中国特色社会主义思想概论</a:t>
            </a:r>
            <a:endParaRPr lang="zh-CN" altLang="en-US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8726732" y="210506"/>
            <a:ext cx="336310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第十六讲  </a:t>
            </a:r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推动构建人类命运共同体</a:t>
            </a:r>
            <a:endParaRPr lang="zh-CN" altLang="en-US" sz="1100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5718" y="184281"/>
            <a:ext cx="7098031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一、世界怎么了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9250326" y="6440536"/>
            <a:ext cx="28763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习近平新时代中国特色社会主义思想概论</a:t>
            </a:r>
            <a:endParaRPr lang="zh-CN" altLang="en-US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8"/>
          <p:cNvSpPr/>
          <p:nvPr/>
        </p:nvSpPr>
        <p:spPr>
          <a:xfrm>
            <a:off x="609600" y="1411817"/>
            <a:ext cx="10972800" cy="1693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6863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97367" y="6400800"/>
            <a:ext cx="4267200" cy="2836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767" y="6400800"/>
            <a:ext cx="4978400" cy="2836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486400" y="6400800"/>
            <a:ext cx="1219200" cy="2836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03F37-09B9-463A-A88B-50DCF7D8E240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tags" Target="../tags/tag50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8.jpeg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" y="899998"/>
            <a:ext cx="12192002" cy="5958002"/>
            <a:chOff x="-2" y="899998"/>
            <a:chExt cx="12192002" cy="595800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124"/>
            <a:stretch>
              <a:fillRect/>
            </a:stretch>
          </p:blipFill>
          <p:spPr>
            <a:xfrm>
              <a:off x="-2" y="900000"/>
              <a:ext cx="12192000" cy="5958000"/>
            </a:xfrm>
            <a:prstGeom prst="rect">
              <a:avLst/>
            </a:prstGeom>
          </p:spPr>
        </p:pic>
        <p:sp>
          <p:nvSpPr>
            <p:cNvPr id="61" name="矩形 60"/>
            <p:cNvSpPr/>
            <p:nvPr/>
          </p:nvSpPr>
          <p:spPr>
            <a:xfrm>
              <a:off x="-1" y="899998"/>
              <a:ext cx="12192001" cy="5958001"/>
            </a:xfrm>
            <a:prstGeom prst="rect">
              <a:avLst/>
            </a:prstGeom>
            <a:gradFill>
              <a:gsLst>
                <a:gs pos="50000">
                  <a:srgbClr val="FFFDFD"/>
                </a:gs>
                <a:gs pos="100000">
                  <a:srgbClr val="FFFDFD">
                    <a:alpha val="0"/>
                  </a:srgbClr>
                </a:gs>
                <a:gs pos="0">
                  <a:srgbClr val="FFFDF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-2" y="1"/>
            <a:ext cx="2582820" cy="2280468"/>
            <a:chOff x="426029" y="1"/>
            <a:chExt cx="2582820" cy="2280468"/>
          </a:xfrm>
        </p:grpSpPr>
        <p:cxnSp>
          <p:nvCxnSpPr>
            <p:cNvPr id="41" name="直接连接符 40"/>
            <p:cNvCxnSpPr/>
            <p:nvPr/>
          </p:nvCxnSpPr>
          <p:spPr>
            <a:xfrm flipV="1">
              <a:off x="426029" y="2"/>
              <a:ext cx="2258122" cy="2004563"/>
            </a:xfrm>
            <a:prstGeom prst="line">
              <a:avLst/>
            </a:prstGeom>
            <a:ln w="6350">
              <a:gradFill>
                <a:gsLst>
                  <a:gs pos="0">
                    <a:srgbClr val="FFFDFD"/>
                  </a:gs>
                  <a:gs pos="100000">
                    <a:schemeClr val="accent2">
                      <a:lumMod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V="1">
              <a:off x="426029" y="1"/>
              <a:ext cx="2423216" cy="2139548"/>
            </a:xfrm>
            <a:prstGeom prst="line">
              <a:avLst/>
            </a:prstGeom>
            <a:ln w="6350">
              <a:gradFill>
                <a:gsLst>
                  <a:gs pos="0">
                    <a:srgbClr val="FFFDFD"/>
                  </a:gs>
                  <a:gs pos="100000">
                    <a:schemeClr val="accent2">
                      <a:lumMod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V="1">
              <a:off x="426031" y="1"/>
              <a:ext cx="2582818" cy="2280468"/>
            </a:xfrm>
            <a:prstGeom prst="line">
              <a:avLst/>
            </a:prstGeom>
            <a:ln w="6350">
              <a:gradFill>
                <a:gsLst>
                  <a:gs pos="0">
                    <a:srgbClr val="FFFDFD"/>
                  </a:gs>
                  <a:gs pos="100000">
                    <a:schemeClr val="accent2">
                      <a:lumMod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图片 6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2114568" cy="1872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136000" y="1889297"/>
            <a:ext cx="7920000" cy="16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sz="4400" b="1" spc="300" dirty="0">
                <a:gradFill>
                  <a:gsLst>
                    <a:gs pos="30000">
                      <a:srgbClr val="9E0406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3600000" scaled="0"/>
                </a:gradFill>
                <a:effectLst>
                  <a:outerShdw blurRad="50800" dist="38100" dir="2700000" algn="tl" rotWithShape="0">
                    <a:schemeClr val="accent2">
                      <a:lumMod val="20000"/>
                      <a:lumOff val="8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习近平新时代</a:t>
            </a:r>
            <a:endParaRPr lang="zh-CN" altLang="en-US" sz="4400" b="1" spc="300" dirty="0">
              <a:gradFill>
                <a:gsLst>
                  <a:gs pos="30000">
                    <a:srgbClr val="9E0406"/>
                  </a:gs>
                  <a:gs pos="100000">
                    <a:schemeClr val="accent2">
                      <a:lumMod val="75000"/>
                    </a:schemeClr>
                  </a:gs>
                </a:gsLst>
                <a:lin ang="3600000" scaled="0"/>
              </a:gradFill>
              <a:effectLst>
                <a:outerShdw blurRad="50800" dist="38100" dir="2700000" algn="tl" rotWithShape="0">
                  <a:schemeClr val="accent2">
                    <a:lumMod val="20000"/>
                    <a:lumOff val="8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>
              <a:spcAft>
                <a:spcPts val="1200"/>
              </a:spcAft>
            </a:pPr>
            <a:r>
              <a:rPr lang="zh-CN" altLang="en-US" sz="4400" b="1" spc="300" dirty="0">
                <a:gradFill>
                  <a:gsLst>
                    <a:gs pos="30000">
                      <a:srgbClr val="9E0406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3600000" scaled="0"/>
                </a:gradFill>
                <a:effectLst>
                  <a:outerShdw blurRad="50800" dist="38100" dir="2700000" algn="tl" rotWithShape="0">
                    <a:schemeClr val="accent2">
                      <a:lumMod val="20000"/>
                      <a:lumOff val="8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中国特色社会主义思想概论</a:t>
            </a:r>
            <a:endParaRPr lang="zh-CN" altLang="en-US" sz="4400" b="1" spc="300" dirty="0">
              <a:gradFill>
                <a:gsLst>
                  <a:gs pos="30000">
                    <a:srgbClr val="9E0406"/>
                  </a:gs>
                  <a:gs pos="100000">
                    <a:schemeClr val="accent2">
                      <a:lumMod val="75000"/>
                    </a:schemeClr>
                  </a:gs>
                </a:gsLst>
                <a:lin ang="3600000" scaled="0"/>
              </a:gradFill>
              <a:effectLst>
                <a:outerShdw blurRad="50800" dist="38100" dir="2700000" algn="tl" rotWithShape="0">
                  <a:schemeClr val="accent2">
                    <a:lumMod val="20000"/>
                    <a:lumOff val="8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855656" y="3672000"/>
            <a:ext cx="6483570" cy="461665"/>
            <a:chOff x="2855656" y="3816000"/>
            <a:chExt cx="6483570" cy="461665"/>
          </a:xfrm>
        </p:grpSpPr>
        <p:sp>
          <p:nvSpPr>
            <p:cNvPr id="23" name="文本框 22"/>
            <p:cNvSpPr txBox="1"/>
            <p:nvPr/>
          </p:nvSpPr>
          <p:spPr>
            <a:xfrm>
              <a:off x="5148000" y="3816000"/>
              <a:ext cx="194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ctr"/>
              <a:r>
                <a:rPr lang="zh-CN" altLang="en-US" sz="24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教学课件</a:t>
              </a:r>
              <a:endPara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7035226" y="4068000"/>
              <a:ext cx="2304000" cy="0"/>
            </a:xfrm>
            <a:prstGeom prst="line">
              <a:avLst/>
            </a:prstGeom>
            <a:ln w="19050">
              <a:solidFill>
                <a:srgbClr val="D49A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2855656" y="4068000"/>
              <a:ext cx="2304000" cy="0"/>
            </a:xfrm>
            <a:prstGeom prst="line">
              <a:avLst/>
            </a:prstGeom>
            <a:ln w="19050">
              <a:solidFill>
                <a:srgbClr val="D49A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0" y="6570000"/>
            <a:ext cx="12192000" cy="288000"/>
            <a:chOff x="0" y="6570000"/>
            <a:chExt cx="12192000" cy="288000"/>
          </a:xfrm>
        </p:grpSpPr>
        <p:sp>
          <p:nvSpPr>
            <p:cNvPr id="34" name="矩形 33"/>
            <p:cNvSpPr/>
            <p:nvPr/>
          </p:nvSpPr>
          <p:spPr>
            <a:xfrm>
              <a:off x="0" y="6570000"/>
              <a:ext cx="12192000" cy="288000"/>
            </a:xfrm>
            <a:prstGeom prst="rect">
              <a:avLst/>
            </a:prstGeom>
            <a:gradFill>
              <a:gsLst>
                <a:gs pos="100000">
                  <a:srgbClr val="FAE7D0"/>
                </a:gs>
                <a:gs pos="0">
                  <a:srgbClr val="FFFDF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900" dirty="0">
                <a:solidFill>
                  <a:srgbClr val="FFFDF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36000" y="6598584"/>
              <a:ext cx="115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全国高校思想政治理论课教学指导委员会　 　高等教育出版社  联合出品    </a:t>
              </a:r>
              <a:r>
                <a: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　全国高校“习近平新时代中国特色社会主义思想概论”教学创新中心（中国人民大学） 监制</a:t>
              </a:r>
              <a:endPara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2112000" y="540000"/>
            <a:ext cx="10080000" cy="0"/>
          </a:xfrm>
          <a:prstGeom prst="line">
            <a:avLst/>
          </a:prstGeom>
          <a:ln w="6350">
            <a:gradFill>
              <a:gsLst>
                <a:gs pos="0">
                  <a:srgbClr val="9E0406">
                    <a:alpha val="0"/>
                  </a:srgbClr>
                </a:gs>
                <a:gs pos="100000">
                  <a:srgbClr val="9E0406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3860" y="791210"/>
            <a:ext cx="389255" cy="563118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pPr algn="just"/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第一讲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/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马克思主义中国化时代化新的飞跃</a:t>
            </a:r>
            <a:endParaRPr lang="zh-CN" altLang="en-US" sz="20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83615" y="2092960"/>
            <a:ext cx="3721100" cy="612140"/>
            <a:chOff x="2462686" y="2046998"/>
            <a:chExt cx="9360000" cy="612000"/>
          </a:xfrm>
        </p:grpSpPr>
        <p:sp>
          <p:nvSpPr>
            <p:cNvPr id="7" name="文本框 6"/>
            <p:cNvSpPr txBox="1"/>
            <p:nvPr>
              <p:custDataLst>
                <p:tags r:id="rId1"/>
              </p:custDataLst>
            </p:nvPr>
          </p:nvSpPr>
          <p:spPr>
            <a:xfrm>
              <a:off x="2462686" y="2046998"/>
              <a:ext cx="9360000" cy="368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buClr>
                  <a:srgbClr val="C00000"/>
                </a:buClr>
                <a:buSzPct val="80000"/>
                <a:defRPr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ct val="80000"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2"/>
              </p:custDataLst>
            </p:nvPr>
          </p:nvCxnSpPr>
          <p:spPr>
            <a:xfrm>
              <a:off x="2534686" y="2658998"/>
              <a:ext cx="9204204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983615" y="2956560"/>
            <a:ext cx="3721100" cy="612140"/>
            <a:chOff x="2462686" y="1919644"/>
            <a:chExt cx="9360000" cy="612000"/>
          </a:xfrm>
        </p:grpSpPr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2462686" y="1919644"/>
              <a:ext cx="9360000" cy="368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buClr>
                  <a:srgbClr val="C00000"/>
                </a:buClr>
                <a:buSzPct val="80000"/>
                <a:defRPr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ct val="80000"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4"/>
              </p:custDataLst>
            </p:nvPr>
          </p:nvCxnSpPr>
          <p:spPr>
            <a:xfrm>
              <a:off x="2534686" y="2531644"/>
              <a:ext cx="9204204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983615" y="4685030"/>
            <a:ext cx="3721100" cy="612140"/>
            <a:chOff x="2424586" y="2301325"/>
            <a:chExt cx="9360000" cy="612000"/>
          </a:xfrm>
        </p:grpSpPr>
        <p:sp>
          <p:nvSpPr>
            <p:cNvPr id="19" name="文本框 18"/>
            <p:cNvSpPr txBox="1"/>
            <p:nvPr>
              <p:custDataLst>
                <p:tags r:id="rId5"/>
              </p:custDataLst>
            </p:nvPr>
          </p:nvSpPr>
          <p:spPr>
            <a:xfrm>
              <a:off x="2424586" y="2301325"/>
              <a:ext cx="9360000" cy="368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buClr>
                  <a:srgbClr val="C00000"/>
                </a:buClr>
                <a:buSzPct val="80000"/>
                <a:defRPr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ct val="80000"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0" name="直接连接符 19"/>
            <p:cNvCxnSpPr/>
            <p:nvPr>
              <p:custDataLst>
                <p:tags r:id="rId6"/>
              </p:custDataLst>
            </p:nvPr>
          </p:nvCxnSpPr>
          <p:spPr>
            <a:xfrm>
              <a:off x="2496586" y="2913325"/>
              <a:ext cx="9204204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983615" y="3820795"/>
            <a:ext cx="3721100" cy="612140"/>
            <a:chOff x="2316636" y="1967034"/>
            <a:chExt cx="9360000" cy="612000"/>
          </a:xfrm>
        </p:grpSpPr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2316636" y="1967034"/>
              <a:ext cx="9360000" cy="368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buClr>
                  <a:srgbClr val="C00000"/>
                </a:buClr>
                <a:buSzPct val="80000"/>
                <a:defRPr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ct val="80000"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>
              <a:off x="2388636" y="2579034"/>
              <a:ext cx="9204204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1379855" y="397510"/>
            <a:ext cx="3666490" cy="64516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一、习近平新时代中国特色社会主义思想是如何创立的</a:t>
            </a:r>
            <a:endParaRPr lang="zh-CN" altLang="en-US" b="1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59205" y="1294765"/>
            <a:ext cx="3759835" cy="6451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二、习近平新时代中国特色社会主义思想回答了什么重大时代课题 </a:t>
            </a:r>
            <a:endParaRPr lang="zh-CN" altLang="en-US" b="1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71270" y="2125980"/>
            <a:ext cx="3774440" cy="645160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三、习近平新时代中国特色社会主义思想主要包含哪些内容</a:t>
            </a:r>
            <a:endParaRPr lang="zh-CN" altLang="en-US" b="1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06805" y="3211830"/>
            <a:ext cx="3969385" cy="64516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r>
              <a:rPr lang="zh-CN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四、如何把握习近平新时代中国特色社会主义思想的世界观和方法论</a:t>
            </a:r>
            <a:endParaRPr lang="zh-CN" altLang="en-US" b="1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71905" y="4432300"/>
            <a:ext cx="3900805" cy="645160"/>
          </a:xfrm>
          <a:prstGeom prst="rect">
            <a:avLst/>
          </a:prstGeom>
          <a:solidFill>
            <a:srgbClr val="F47926"/>
          </a:solidFill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五、如何理解习近平新时代中国特色社会主义思想的历史地位</a:t>
            </a:r>
            <a:endParaRPr lang="zh-CN" altLang="en-US" b="1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271905" y="5746115"/>
            <a:ext cx="3901440" cy="64516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六、如何学好用好习近平新时代中国特色社会主义思想</a:t>
            </a:r>
            <a:endParaRPr lang="zh-CN" altLang="en-US" b="1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左大括号 26"/>
          <p:cNvSpPr/>
          <p:nvPr/>
        </p:nvSpPr>
        <p:spPr>
          <a:xfrm>
            <a:off x="925195" y="782320"/>
            <a:ext cx="387985" cy="537845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046345" y="314325"/>
            <a:ext cx="4943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（二）历史方位：  中国特色社会主义进入新时代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66030" y="554355"/>
            <a:ext cx="5070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FontTx/>
            </a:pP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（三）实践基础： 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历史性成</a:t>
            </a: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就、历史性变革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046345" y="851535"/>
            <a:ext cx="5070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FontTx/>
            </a:pP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（四）根本途径：“两个结合”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046345" y="54610"/>
            <a:ext cx="5109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（一）时代背景：“两个大局”同步交织、相互激荡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左大括号 38"/>
          <p:cNvSpPr/>
          <p:nvPr/>
        </p:nvSpPr>
        <p:spPr>
          <a:xfrm>
            <a:off x="5046345" y="314325"/>
            <a:ext cx="228600" cy="728345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左大括号 39"/>
          <p:cNvSpPr/>
          <p:nvPr>
            <p:custDataLst>
              <p:tags r:id="rId9"/>
            </p:custDataLst>
          </p:nvPr>
        </p:nvSpPr>
        <p:spPr>
          <a:xfrm>
            <a:off x="5018405" y="1419225"/>
            <a:ext cx="256540" cy="507365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5066030" y="1160145"/>
            <a:ext cx="6137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（一）新时代坚持和发展什么样的中国特色社会主义、怎样坚持和发展中国特色社会主义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66030" y="1495425"/>
            <a:ext cx="62579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（二）建设什么样的社会主义现代化强国、怎样建设社会主义现代化强国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076190" y="1648460"/>
            <a:ext cx="6137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（三）建设什么样的长期执政的马克思主义政党、怎样建设长期执政的马克思主义政党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076190" y="2037080"/>
            <a:ext cx="42589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一 ）  “ 十 个 明 确 ”</a:t>
            </a:r>
            <a:endParaRPr lang="zh-CN" altLang="en-US" sz="14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66030" y="2296795"/>
            <a:ext cx="27584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二 ）  “ 十 四 个 坚 持 ”</a:t>
            </a:r>
            <a:endParaRPr lang="zh-CN" altLang="en-US" sz="14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076190" y="2587625"/>
            <a:ext cx="42583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三 ）  “ 十 三 个 方 面 成 就”</a:t>
            </a:r>
            <a:endParaRPr lang="zh-CN" altLang="en-US" sz="14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左大括号 61"/>
          <p:cNvSpPr/>
          <p:nvPr>
            <p:custDataLst>
              <p:tags r:id="rId10"/>
            </p:custDataLst>
          </p:nvPr>
        </p:nvSpPr>
        <p:spPr>
          <a:xfrm>
            <a:off x="5066030" y="2223770"/>
            <a:ext cx="208915" cy="51498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172710" y="2860675"/>
            <a:ext cx="19570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一 ）坚持人民至上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172846" y="3058236"/>
            <a:ext cx="352865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二 ）坚持自信自立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72846" y="3252411"/>
            <a:ext cx="352865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三 ）坚持守正创新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172457" y="3465460"/>
            <a:ext cx="3691062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四 ）坚持问题导向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172457" y="3653285"/>
            <a:ext cx="352865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五 ）坚持系统观念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172457" y="3872225"/>
            <a:ext cx="352865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 六 ）坚持胸怀天下</a:t>
            </a:r>
            <a:endParaRPr lang="zh-CN" altLang="en-US" sz="1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左大括号 75"/>
          <p:cNvSpPr/>
          <p:nvPr>
            <p:custDataLst>
              <p:tags r:id="rId11"/>
            </p:custDataLst>
          </p:nvPr>
        </p:nvSpPr>
        <p:spPr>
          <a:xfrm>
            <a:off x="5172710" y="3009900"/>
            <a:ext cx="198755" cy="1015365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左大括号 76"/>
          <p:cNvSpPr/>
          <p:nvPr>
            <p:custDataLst>
              <p:tags r:id="rId12"/>
            </p:custDataLst>
          </p:nvPr>
        </p:nvSpPr>
        <p:spPr>
          <a:xfrm>
            <a:off x="5172710" y="4297680"/>
            <a:ext cx="229235" cy="890270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左大括号 77"/>
          <p:cNvSpPr/>
          <p:nvPr>
            <p:custDataLst>
              <p:tags r:id="rId13"/>
            </p:custDataLst>
          </p:nvPr>
        </p:nvSpPr>
        <p:spPr>
          <a:xfrm>
            <a:off x="5193030" y="5572760"/>
            <a:ext cx="178435" cy="1012190"/>
          </a:xfrm>
          <a:prstGeom prst="leftBrac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5193030" y="4990465"/>
            <a:ext cx="51282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微软雅黑" panose="020B0503020204020204" pitchFamily="34" charset="-122"/>
              </a:rPr>
              <a:t>（</a:t>
            </a:r>
            <a:r>
              <a:rPr lang="zh-CN" altLang="en-US" sz="14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微软雅黑" panose="020B0503020204020204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微软雅黑" panose="020B0503020204020204" pitchFamily="34" charset="-122"/>
              </a:rPr>
              <a:t>四</a:t>
            </a:r>
            <a:r>
              <a:rPr lang="zh-CN" altLang="en-US" sz="14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微软雅黑" panose="020B0503020204020204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微软雅黑" panose="020B0503020204020204" pitchFamily="34" charset="-122"/>
              </a:rPr>
              <a:t>） 深刻领悟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微软雅黑" panose="020B0503020204020204" pitchFamily="34" charset="-122"/>
              </a:rPr>
              <a:t>“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微软雅黑" panose="020B0503020204020204" pitchFamily="34" charset="-122"/>
              </a:rPr>
              <a:t>两个确立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微软雅黑" panose="020B0503020204020204" pitchFamily="34" charset="-122"/>
              </a:rPr>
              <a:t>”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微软雅黑" panose="020B0503020204020204" pitchFamily="34" charset="-122"/>
              </a:rPr>
              <a:t>的决定性意义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227955" y="4147820"/>
            <a:ext cx="609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 一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 </a:t>
            </a:r>
            <a:r>
              <a:rPr lang="zh-CN" altLang="en-US" sz="1400" spc="15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当代中国马克思主义、二十一世纪马克思主义</a:t>
            </a:r>
            <a:endParaRPr lang="zh-CN" altLang="en-US" sz="1400" spc="15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226685" y="4432935"/>
            <a:ext cx="609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 </a:t>
            </a:r>
            <a:r>
              <a:rPr lang="zh-CN" altLang="en-US" sz="1400" spc="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中华文化和中国精神的时代精华</a:t>
            </a:r>
            <a:endParaRPr lang="zh-CN" altLang="en-US" sz="1400" spc="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227955" y="4685030"/>
            <a:ext cx="609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 </a:t>
            </a:r>
            <a:r>
              <a:rPr lang="zh-CN" altLang="en-US" sz="1400" spc="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马克思主义中国化时代化新的飞跃</a:t>
            </a:r>
            <a:endParaRPr lang="zh-CN" altLang="en-US" sz="1400" spc="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226685" y="5408930"/>
            <a:ext cx="7241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（一）坚持读原著学原文悟原理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227955" y="5732780"/>
            <a:ext cx="7241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（二）带着问题学、</a:t>
            </a: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联系实际学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227955" y="6085205"/>
            <a:ext cx="7241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（三）把握贯穿其中的立场观点方法</a:t>
            </a:r>
            <a:endParaRPr lang="zh-CN" altLang="en-US" sz="1600" b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227955" y="6422390"/>
            <a:ext cx="7241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（四）用党的创新理论认识世界、改造世界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1" grpId="0"/>
      <p:bldP spid="34" grpId="0"/>
      <p:bldP spid="37" grpId="0"/>
      <p:bldP spid="38" grpId="1"/>
      <p:bldP spid="31" grpId="1"/>
      <p:bldP spid="34" grpId="1"/>
      <p:bldP spid="37" grpId="1"/>
      <p:bldP spid="53" grpId="0"/>
      <p:bldP spid="44" grpId="0"/>
      <p:bldP spid="56" grpId="0"/>
      <p:bldP spid="47" grpId="0"/>
      <p:bldP spid="57" grpId="0"/>
      <p:bldP spid="60" grpId="0"/>
      <p:bldP spid="53" grpId="1"/>
      <p:bldP spid="44" grpId="1"/>
      <p:bldP spid="56" grpId="1"/>
      <p:bldP spid="47" grpId="1"/>
      <p:bldP spid="57" grpId="1"/>
      <p:bldP spid="60" grpId="1"/>
      <p:bldP spid="65" grpId="0"/>
      <p:bldP spid="64" grpId="0"/>
      <p:bldP spid="66" grpId="0"/>
      <p:bldP spid="68" grpId="0"/>
      <p:bldP spid="67" grpId="0"/>
      <p:bldP spid="69" grpId="0"/>
      <p:bldP spid="65" grpId="1"/>
      <p:bldP spid="64" grpId="1"/>
      <p:bldP spid="66" grpId="1"/>
      <p:bldP spid="68" grpId="1"/>
      <p:bldP spid="67" grpId="1"/>
      <p:bldP spid="69" grpId="1"/>
      <p:bldP spid="87" grpId="0"/>
      <p:bldP spid="88" grpId="0"/>
      <p:bldP spid="89" grpId="0"/>
      <p:bldP spid="86" grpId="0"/>
      <p:bldP spid="87" grpId="1"/>
      <p:bldP spid="88" grpId="1"/>
      <p:bldP spid="89" grpId="1"/>
      <p:bldP spid="86" grpId="1"/>
      <p:bldP spid="92" grpId="0"/>
      <p:bldP spid="95" grpId="0"/>
      <p:bldP spid="98" grpId="0"/>
      <p:bldP spid="101" grpId="0"/>
      <p:bldP spid="92" grpId="1"/>
      <p:bldP spid="95" grpId="1"/>
      <p:bldP spid="98" grpId="1"/>
      <p:bldP spid="10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9725" y="92075"/>
            <a:ext cx="476885" cy="624713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第二讲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坚持和发展中国特色社会主义的总任务</a:t>
            </a:r>
            <a:endParaRPr lang="zh-CN" altLang="en-US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1866265" y="3808730"/>
            <a:ext cx="967867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323340" y="713105"/>
            <a:ext cx="4027805" cy="64516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一、为什么说实现中华民族伟大复兴进入了不可逆转的历史进程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48410" y="2631440"/>
            <a:ext cx="4209415" cy="64516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二、如何理解中国特色社会主义是实现中华民族伟大复兴的必由之路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48410" y="4549775"/>
            <a:ext cx="4138930" cy="368300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p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三、如何建设社会主义现代化强国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882015" y="1098550"/>
            <a:ext cx="375920" cy="365061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702935" y="205740"/>
            <a:ext cx="5355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（一）中华民族近代以来最伟大的梦想 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702935" y="542925"/>
            <a:ext cx="5355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（二）实现中华民族伟大复兴是党百年奋斗的主题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702935" y="950595"/>
            <a:ext cx="5355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（三）中华民族伟大复兴展现出前所未有的光明前景 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702935" y="1358265"/>
            <a:ext cx="5355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（四）实现中华民族伟大复兴的艰巨性、复杂性和长期性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5457825" y="413385"/>
            <a:ext cx="336550" cy="120396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左大括号 16"/>
          <p:cNvSpPr/>
          <p:nvPr/>
        </p:nvSpPr>
        <p:spPr>
          <a:xfrm>
            <a:off x="5543550" y="2344420"/>
            <a:ext cx="160020" cy="1205865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621655" y="2173605"/>
            <a:ext cx="5518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</a:t>
            </a:r>
            <a:r>
              <a:rPr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党和人民长期奋斗取得的根本成就</a:t>
            </a:r>
            <a:endParaRPr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621655" y="2571115"/>
            <a:ext cx="5518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（二）中国特色社会主义是社会主义而不是其他什么主义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621655" y="2939415"/>
            <a:ext cx="5518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（三）新时代坚持和发展中国特色社会主义要一以贯之 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621655" y="3307715"/>
            <a:ext cx="5518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（四）坚定中国特色社会主义“四个自信”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左大括号 55"/>
          <p:cNvSpPr/>
          <p:nvPr/>
        </p:nvSpPr>
        <p:spPr>
          <a:xfrm>
            <a:off x="5480050" y="4277360"/>
            <a:ext cx="154305" cy="91440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5621655" y="4067175"/>
            <a:ext cx="382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（一）全面建成小康社会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634355" y="4520565"/>
            <a:ext cx="382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（二）全面建设社会主义现代化国家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634355" y="4936490"/>
            <a:ext cx="382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（三）推进和拓展中国式现代化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46" grpId="0"/>
      <p:bldP spid="49" grpId="0"/>
      <p:bldP spid="40" grpId="1"/>
      <p:bldP spid="43" grpId="1"/>
      <p:bldP spid="46" grpId="1"/>
      <p:bldP spid="49" grpId="1"/>
      <p:bldP spid="20" grpId="0"/>
      <p:bldP spid="36" grpId="0"/>
      <p:bldP spid="51" grpId="0"/>
      <p:bldP spid="54" grpId="0"/>
      <p:bldP spid="20" grpId="1"/>
      <p:bldP spid="36" grpId="1"/>
      <p:bldP spid="51" grpId="1"/>
      <p:bldP spid="54" grpId="1"/>
      <p:bldP spid="59" grpId="0"/>
      <p:bldP spid="62" grpId="0"/>
      <p:bldP spid="65" grpId="0"/>
      <p:bldP spid="59" grpId="1"/>
      <p:bldP spid="62" grpId="1"/>
      <p:bldP spid="6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10845" y="1117600"/>
            <a:ext cx="457200" cy="3476625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第三讲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坚持党的全面领导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1102995" y="1187450"/>
            <a:ext cx="235585" cy="310959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>
            <p:custDataLst>
              <p:tags r:id="rId1"/>
            </p:custDataLst>
          </p:nvPr>
        </p:nvCxnSpPr>
        <p:spPr>
          <a:xfrm>
            <a:off x="2945765" y="3258820"/>
            <a:ext cx="756031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412875" y="911860"/>
            <a:ext cx="4143375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一、为什么要坚持党的领导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5415" y="2291715"/>
            <a:ext cx="4157980" cy="64516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二、怎样理解党的领导是全面的、系统的、整体的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40180" y="4177030"/>
            <a:ext cx="4158615" cy="922020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三、怎样才能做到自觉在思想上政治上行动上同党中央保持高度一致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5679440" y="587375"/>
            <a:ext cx="160020" cy="933450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>
            <p:custDataLst>
              <p:tags r:id="rId2"/>
            </p:custDataLst>
          </p:nvPr>
        </p:nvSpPr>
        <p:spPr>
          <a:xfrm>
            <a:off x="5699760" y="2152015"/>
            <a:ext cx="223520" cy="1092835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>
            <p:custDataLst>
              <p:tags r:id="rId3"/>
            </p:custDataLst>
          </p:nvPr>
        </p:nvSpPr>
        <p:spPr>
          <a:xfrm>
            <a:off x="5740400" y="4279265"/>
            <a:ext cx="203200" cy="9245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5699760" y="218440"/>
            <a:ext cx="6218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（一）党是最高政治领导力量 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690870" y="749300"/>
            <a:ext cx="6218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（二）中国共产党领导是中国特色社会主义最本质的特征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682615" y="1280160"/>
            <a:ext cx="6218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（三）中国共产党领导是中国特色社会主义制度的最大优势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60720" y="2003425"/>
            <a:ext cx="3916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（一）党的领导是全面的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760720" y="2359025"/>
            <a:ext cx="3916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（二）党的领导是系统的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60720" y="2713990"/>
            <a:ext cx="3916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（三）党的领导是整体的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760720" y="3068955"/>
            <a:ext cx="51631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（四）提高党把方向、谋大局、定政策、促改革的能力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760720" y="4017010"/>
            <a:ext cx="3761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（一）增强“四个意识”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760720" y="4996815"/>
            <a:ext cx="3761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（二）做到“两个维护” 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3" grpId="0"/>
      <p:bldP spid="56" grpId="0"/>
      <p:bldP spid="41" grpId="1"/>
      <p:bldP spid="53" grpId="1"/>
      <p:bldP spid="56" grpId="1"/>
      <p:bldP spid="12" grpId="0"/>
      <p:bldP spid="16" grpId="0"/>
      <p:bldP spid="19" grpId="0"/>
      <p:bldP spid="59" grpId="0"/>
      <p:bldP spid="12" grpId="1"/>
      <p:bldP spid="16" grpId="1"/>
      <p:bldP spid="19" grpId="1"/>
      <p:bldP spid="59" grpId="1"/>
      <p:bldP spid="31" grpId="0"/>
      <p:bldP spid="34" grpId="0"/>
      <p:bldP spid="31" grpId="1"/>
      <p:bldP spid="3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2445" y="1127760"/>
            <a:ext cx="537210" cy="483108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pPr algn="just"/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第四讲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坚持以人民为中心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6215" y="1290955"/>
            <a:ext cx="4808855" cy="36830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p>
            <a:pPr algn="just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一、为什么必须坚持以人民为中心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26845" y="3244850"/>
            <a:ext cx="4999355" cy="368300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p>
            <a:pPr algn="just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如何理解不断实现人民对美好生活的向往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26845" y="4959350"/>
            <a:ext cx="5001895" cy="368300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spAutoFit/>
          </a:bodyPr>
          <a:p>
            <a:pPr algn="just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怎样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推动人的全面发展、全体人民共同富裕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1089025" y="1470025"/>
            <a:ext cx="337820" cy="368363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419850" y="794385"/>
            <a:ext cx="4017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（一）人民是创造历史的动力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04610" y="1290955"/>
            <a:ext cx="4077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（二）江山就是人民、人民就是江山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04610" y="1802130"/>
            <a:ext cx="3824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（三）党依靠人民创造历史伟业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6419850" y="1039495"/>
            <a:ext cx="144780" cy="929005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左大括号 16"/>
          <p:cNvSpPr/>
          <p:nvPr/>
        </p:nvSpPr>
        <p:spPr>
          <a:xfrm>
            <a:off x="6607810" y="2947035"/>
            <a:ext cx="197485" cy="94678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607810" y="2746375"/>
            <a:ext cx="5019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（一）人民立场是中国共产党的根本政治立场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07810" y="3244850"/>
            <a:ext cx="5019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（二）为中国人民谋幸福是中国共产党的初心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607810" y="3690620"/>
            <a:ext cx="5019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（三）中国共产党为人民的美好生活而不懈奋斗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528435" y="4427855"/>
            <a:ext cx="5497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（一）科学认识人的全面发展、全体人民共同富裕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528435" y="4796155"/>
            <a:ext cx="549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（二）推动全体人民共同富裕取得更为明显的实质性进展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528435" y="5441315"/>
            <a:ext cx="5497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（三）实现全体人民共同富裕的实践举措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左大括号 44"/>
          <p:cNvSpPr/>
          <p:nvPr/>
        </p:nvSpPr>
        <p:spPr>
          <a:xfrm>
            <a:off x="6528435" y="4651375"/>
            <a:ext cx="177800" cy="880745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26" grpId="1"/>
      <p:bldP spid="29" grpId="1"/>
      <p:bldP spid="32" grpId="1"/>
      <p:bldP spid="20" grpId="0"/>
      <p:bldP spid="23" grpId="0"/>
      <p:bldP spid="35" grpId="0"/>
      <p:bldP spid="20" grpId="1"/>
      <p:bldP spid="23" grpId="1"/>
      <p:bldP spid="35" grpId="1"/>
      <p:bldP spid="38" grpId="0"/>
      <p:bldP spid="41" grpId="0"/>
      <p:bldP spid="44" grpId="0"/>
      <p:bldP spid="38" grpId="1"/>
      <p:bldP spid="41" grpId="1"/>
      <p:bldP spid="4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6675" y="1520190"/>
            <a:ext cx="594995" cy="386842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noAutofit/>
          </a:bodyPr>
          <a:p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第五讲</a:t>
            </a:r>
            <a:endParaRPr lang="zh-CN" alt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全面深化改革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39420" y="1316355"/>
            <a:ext cx="8434705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808605" y="3827145"/>
            <a:ext cx="756031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20345" y="5824220"/>
            <a:ext cx="756031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809365" y="128905"/>
            <a:ext cx="37630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（一）改革开放是决定当代中国前途命运的关键一招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09365" y="601345"/>
            <a:ext cx="308737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（二）改革进入攻坚期和深水区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09365" y="1183005"/>
            <a:ext cx="33642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（三）要敢于啃硬骨头、敢于涉险滩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64120" y="0"/>
            <a:ext cx="43999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spcAft>
                <a:spcPts val="0"/>
              </a:spcAft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解决好生产力和生产关系的矛盾，解放和发展生产力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algn="l" fontAlgn="auto">
              <a:spcAft>
                <a:spcPts val="0"/>
              </a:spcAft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解决好经济基础和上层建筑的矛盾，完善和发展社会主义制度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algn="l" fontAlgn="auto">
              <a:spcAft>
                <a:spcPts val="0"/>
              </a:spcAft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进行广泛而深刻的社会变革，推动走出一条中国式现代化道路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algn="l" fontAlgn="auto">
              <a:spcAft>
                <a:spcPts val="0"/>
              </a:spcAft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吸收人类一切优秀文明成果，创造人类文明新形态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77665" y="2125980"/>
            <a:ext cx="35915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一）坚持全面深化改革总目标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77665" y="2608580"/>
            <a:ext cx="45466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（二）全面深化改革是有方向、有立场、有原则的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77665" y="3068955"/>
            <a:ext cx="52806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（三）许多领域实现历史性变革、系统性重塑、整体性重构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810895" y="621030"/>
            <a:ext cx="2898775" cy="5835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一、为什么要全面深化改革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sym typeface="+mn-ea"/>
              </a:rPr>
              <a:t>——改革进入攻坚期和深水区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0740" y="2380615"/>
            <a:ext cx="3157855" cy="829945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p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二、怎样推进全面深化改革</a:t>
            </a:r>
            <a:endParaRPr lang="zh-CN" alt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——由局部探索、破冰突围到系统集成、全面深化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862965" y="4573270"/>
            <a:ext cx="3279140" cy="82994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三、如何构建对外开放新格局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sym typeface="+mn-ea"/>
              </a:rPr>
              <a:t>——推进高水平对外开放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44035" y="4164965"/>
            <a:ext cx="5354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（一）实行更加积极主动的开放战略</a:t>
            </a:r>
            <a:endParaRPr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44035" y="4693285"/>
            <a:ext cx="59315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（二）构建互利共赢、多元平衡、安全高效的开放型经济体系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43400" y="5260975"/>
            <a:ext cx="53549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（三）推动共建“一带一路”高质量发展</a:t>
            </a: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左大括号 24"/>
          <p:cNvSpPr/>
          <p:nvPr/>
        </p:nvSpPr>
        <p:spPr>
          <a:xfrm>
            <a:off x="661035" y="721360"/>
            <a:ext cx="200025" cy="433832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左大括号 25"/>
          <p:cNvSpPr/>
          <p:nvPr/>
        </p:nvSpPr>
        <p:spPr>
          <a:xfrm>
            <a:off x="3709670" y="288925"/>
            <a:ext cx="278130" cy="970915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>
            <p:custDataLst>
              <p:tags r:id="rId3"/>
            </p:custDataLst>
          </p:nvPr>
        </p:nvSpPr>
        <p:spPr>
          <a:xfrm>
            <a:off x="4177665" y="4278630"/>
            <a:ext cx="278130" cy="11614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左大括号 27"/>
          <p:cNvSpPr/>
          <p:nvPr>
            <p:custDataLst>
              <p:tags r:id="rId4"/>
            </p:custDataLst>
          </p:nvPr>
        </p:nvSpPr>
        <p:spPr>
          <a:xfrm>
            <a:off x="4041775" y="2241550"/>
            <a:ext cx="278130" cy="97091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左大括号 6"/>
          <p:cNvSpPr/>
          <p:nvPr>
            <p:custDataLst>
              <p:tags r:id="rId5"/>
            </p:custDataLst>
          </p:nvPr>
        </p:nvSpPr>
        <p:spPr>
          <a:xfrm>
            <a:off x="7361555" y="141605"/>
            <a:ext cx="278130" cy="579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3" grpId="1"/>
      <p:bldP spid="4" grpId="1"/>
      <p:bldP spid="5" grpId="1"/>
      <p:bldP spid="6" grpId="1"/>
      <p:bldP spid="16" grpId="0"/>
      <p:bldP spid="17" grpId="0"/>
      <p:bldP spid="18" grpId="0"/>
      <p:bldP spid="16" grpId="1"/>
      <p:bldP spid="17" grpId="1"/>
      <p:bldP spid="18" grpId="1"/>
      <p:bldP spid="22" grpId="0"/>
      <p:bldP spid="23" grpId="0"/>
      <p:bldP spid="24" grpId="0"/>
      <p:bldP spid="22" grpId="1"/>
      <p:bldP spid="23" grpId="1"/>
      <p:bldP spid="2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4445" y="590550"/>
            <a:ext cx="375285" cy="5015865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第六讲</a:t>
            </a:r>
            <a:r>
              <a:rPr lang="zh-CN" altLang="zh-CN" sz="2000" b="1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以新发展理念引领高质量发展</a:t>
            </a:r>
            <a:endParaRPr lang="zh-CN" altLang="zh-CN" sz="2000" b="1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428037" y="2222316"/>
            <a:ext cx="8745049" cy="2495369"/>
            <a:chOff x="4565352" y="1660682"/>
            <a:chExt cx="7061655" cy="2495369"/>
          </a:xfrm>
        </p:grpSpPr>
        <p:sp>
          <p:nvSpPr>
            <p:cNvPr id="40" name="文本框 39"/>
            <p:cNvSpPr txBox="1"/>
            <p:nvPr>
              <p:custDataLst>
                <p:tags r:id="rId1"/>
              </p:custDataLst>
            </p:nvPr>
          </p:nvSpPr>
          <p:spPr>
            <a:xfrm>
              <a:off x="4565352" y="1660682"/>
              <a:ext cx="70200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buClr>
                  <a:srgbClr val="C00000"/>
                </a:buClr>
                <a:buSzPct val="80000"/>
                <a:defRPr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1" name="直接连接符 40"/>
            <p:cNvCxnSpPr/>
            <p:nvPr>
              <p:custDataLst>
                <p:tags r:id="rId2"/>
              </p:custDataLst>
            </p:nvPr>
          </p:nvCxnSpPr>
          <p:spPr>
            <a:xfrm>
              <a:off x="4657061" y="4156051"/>
              <a:ext cx="696994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655320" y="935355"/>
            <a:ext cx="2708910" cy="521970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一、如何把握新发展阶段、贯彻新发展理念、构建新发展格局</a:t>
            </a:r>
            <a:endParaRPr lang="zh-CN" altLang="en-US" sz="14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6730" y="2780030"/>
            <a:ext cx="2922905" cy="52197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二、如何理解高质量发展是全面建设社会主义现代化国家的首要任务</a:t>
            </a:r>
            <a:endParaRPr lang="zh-CN" altLang="en-US" sz="14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4530" y="5084445"/>
            <a:ext cx="2586355" cy="52197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三、如何坚持和完善社会主义基本经济制度</a:t>
            </a:r>
            <a:endParaRPr lang="zh-CN" altLang="en-US" sz="14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436245" y="1116330"/>
            <a:ext cx="153670" cy="414591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29635" y="167005"/>
            <a:ext cx="32969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（一）进入新发展阶段是中华民族伟大复兴历史进程的大跨越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64230" y="938530"/>
            <a:ext cx="34994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（二）贯彻新发展理念是关系我国发展全局的一场深刻变革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64230" y="1655445"/>
            <a:ext cx="3362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（三）构建新发展格局是把握发展主动权的战略性布局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" name="左大括号 9"/>
          <p:cNvSpPr/>
          <p:nvPr>
            <p:custDataLst>
              <p:tags r:id="rId3"/>
            </p:custDataLst>
          </p:nvPr>
        </p:nvSpPr>
        <p:spPr>
          <a:xfrm>
            <a:off x="3336290" y="313055"/>
            <a:ext cx="93345" cy="1694815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左大括号 10"/>
          <p:cNvSpPr/>
          <p:nvPr>
            <p:custDataLst>
              <p:tags r:id="rId4"/>
            </p:custDataLst>
          </p:nvPr>
        </p:nvSpPr>
        <p:spPr>
          <a:xfrm>
            <a:off x="3463290" y="2476500"/>
            <a:ext cx="76200" cy="105283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大括号 11"/>
          <p:cNvSpPr/>
          <p:nvPr>
            <p:custDataLst>
              <p:tags r:id="rId5"/>
            </p:custDataLst>
          </p:nvPr>
        </p:nvSpPr>
        <p:spPr>
          <a:xfrm>
            <a:off x="3320415" y="3966210"/>
            <a:ext cx="160020" cy="2390140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726555" y="-40005"/>
            <a:ext cx="31743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1200" b="1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进入新发展阶段是我国经济发展的历史方位</a:t>
            </a:r>
            <a:endParaRPr kumimoji="1" lang="zh-CN" altLang="en-US" sz="1200" b="1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26555" y="165100"/>
            <a:ext cx="38258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kern="0" noProof="0" dirty="0">
                <a:ln>
                  <a:noFill/>
                </a:ln>
                <a:solidFill>
                  <a:srgbClr val="0D01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中国我们已经拥有开启新征程、实现新的更高目标的雄厚物质基础</a:t>
            </a:r>
            <a:endParaRPr lang="zh-CN" altLang="en-US" sz="1200" b="1" kern="0" noProof="0" dirty="0">
              <a:ln>
                <a:noFill/>
              </a:ln>
              <a:solidFill>
                <a:srgbClr val="0D01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26555" y="518160"/>
            <a:ext cx="25819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我国发展仍然处于重要战略机遇期</a:t>
            </a:r>
            <a:endParaRPr kumimoji="1" lang="zh-CN" altLang="en-US" sz="1200" b="1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左大括号 15"/>
          <p:cNvSpPr/>
          <p:nvPr>
            <p:custDataLst>
              <p:tags r:id="rId6"/>
            </p:custDataLst>
          </p:nvPr>
        </p:nvSpPr>
        <p:spPr>
          <a:xfrm>
            <a:off x="6621145" y="72390"/>
            <a:ext cx="198755" cy="55308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364230" y="2280285"/>
            <a:ext cx="24009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（一）我国经济发展进入新常态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64230" y="2849245"/>
            <a:ext cx="25361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（二）以供给侧结构性改革为主线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68675" y="3356610"/>
            <a:ext cx="20332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（三）建设现代化经济体系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364230" y="3827780"/>
            <a:ext cx="23806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（一）社会主义基本经济制度是我国经济发展的制度基础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383915" y="4613910"/>
            <a:ext cx="25165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（二）坚持公有制为主体、多种所有制经济共同发展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65500" y="5248910"/>
            <a:ext cx="2600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（三）坚持按劳分配为主体、多种分配方式并存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70885" y="6055995"/>
            <a:ext cx="27819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（四）加快完善社会主义市场经济体制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692775" y="1924685"/>
            <a:ext cx="18903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进入新常态的判断依据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43905" y="2087880"/>
            <a:ext cx="23094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新常态下我国经济发展的特点和趋势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80100" y="2213610"/>
            <a:ext cx="19812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转向高质量发展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843905" y="2372360"/>
            <a:ext cx="16490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推动高质量发展的必要性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429250" y="3226435"/>
            <a:ext cx="21539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1800"/>
            <a:r>
              <a:rPr lang="zh-CN" altLang="en-US" sz="1000" dirty="0">
                <a:solidFill>
                  <a:srgbClr val="0D0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现代化经济体系的内容</a:t>
            </a:r>
            <a:endParaRPr lang="zh-CN" altLang="en-US" sz="1000" dirty="0">
              <a:solidFill>
                <a:srgbClr val="0D01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880100" y="3417570"/>
            <a:ext cx="20173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00" dirty="0">
                <a:solidFill>
                  <a:srgbClr val="0D0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建设现代化经济体系的重点举措</a:t>
            </a:r>
            <a:endParaRPr lang="zh-CN" altLang="en-US" sz="1000" dirty="0">
              <a:solidFill>
                <a:srgbClr val="0D01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左大括号 29"/>
          <p:cNvSpPr/>
          <p:nvPr>
            <p:custDataLst>
              <p:tags r:id="rId7"/>
            </p:custDataLst>
          </p:nvPr>
        </p:nvSpPr>
        <p:spPr>
          <a:xfrm>
            <a:off x="5816600" y="2087880"/>
            <a:ext cx="83820" cy="5746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816600" y="2502535"/>
            <a:ext cx="252984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全面建设社会主义现代化国家的首要任务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900420" y="2695575"/>
            <a:ext cx="35737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供给侧结构性改革的提出依据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左大括号 32"/>
          <p:cNvSpPr/>
          <p:nvPr>
            <p:custDataLst>
              <p:tags r:id="rId8"/>
            </p:custDataLst>
          </p:nvPr>
        </p:nvSpPr>
        <p:spPr>
          <a:xfrm>
            <a:off x="5859780" y="2804795"/>
            <a:ext cx="76200" cy="2997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5899785" y="2849245"/>
            <a:ext cx="196151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完整准确理解供给侧结构性改革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880100" y="2973705"/>
            <a:ext cx="225615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深化供给侧结构性改革的意义与方向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左大括号 37"/>
          <p:cNvSpPr/>
          <p:nvPr>
            <p:custDataLst>
              <p:tags r:id="rId9"/>
            </p:custDataLst>
          </p:nvPr>
        </p:nvSpPr>
        <p:spPr>
          <a:xfrm>
            <a:off x="5843905" y="3293745"/>
            <a:ext cx="76200" cy="2997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337175" y="3946525"/>
            <a:ext cx="26015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1800"/>
            <a:r>
              <a:rPr lang="zh-CN" altLang="en-US" sz="1000" dirty="0">
                <a:solidFill>
                  <a:srgbClr val="0D0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社会主义基本经济制度的科学内涵</a:t>
            </a:r>
            <a:endParaRPr lang="zh-CN" altLang="en-US" sz="1000" dirty="0">
              <a:solidFill>
                <a:srgbClr val="0D01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左大括号 42"/>
          <p:cNvSpPr/>
          <p:nvPr>
            <p:custDataLst>
              <p:tags r:id="rId10"/>
            </p:custDataLst>
          </p:nvPr>
        </p:nvSpPr>
        <p:spPr>
          <a:xfrm>
            <a:off x="5765165" y="3813175"/>
            <a:ext cx="76200" cy="2997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5765165" y="3668395"/>
            <a:ext cx="18364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00" dirty="0">
                <a:solidFill>
                  <a:srgbClr val="0D0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社会主义基本经济制度的发展</a:t>
            </a:r>
            <a:endParaRPr lang="zh-CN" altLang="en-US" sz="1000" dirty="0">
              <a:solidFill>
                <a:srgbClr val="0D01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6" grpId="0"/>
      <p:bldP spid="42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70" y="295910"/>
            <a:ext cx="481330" cy="590804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第七讲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社会主义现代化建设的教育、科技、人才战略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2145" y="611505"/>
            <a:ext cx="2246630" cy="521970"/>
          </a:xfrm>
          <a:prstGeom prst="rect">
            <a:avLst/>
          </a:prstGeom>
          <a:solidFill>
            <a:schemeClr val="accent4"/>
          </a:solidFill>
        </p:spPr>
        <p:txBody>
          <a:bodyPr wrap="square" rtlCol="0" anchor="t">
            <a:spAutoFit/>
          </a:bodyPr>
          <a:p>
            <a:r>
              <a:rPr lang="zh-CN" altLang="en-US" sz="14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一、如何理解新时代科教兴国战略的重大意义</a:t>
            </a:r>
            <a:endParaRPr lang="zh-CN" altLang="en-US" sz="14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5795" y="2092960"/>
            <a:ext cx="2359660" cy="30670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 sz="14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二、怎样加快建设教育强国</a:t>
            </a:r>
            <a:endParaRPr lang="zh-CN" altLang="en-US" sz="14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5795" y="3098165"/>
            <a:ext cx="2477770" cy="306705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p>
            <a:r>
              <a:rPr lang="zh-CN" altLang="en-US" sz="14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三、怎样加快建设科技强国</a:t>
            </a:r>
            <a:endParaRPr lang="zh-CN" altLang="en-US" sz="14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5034280"/>
            <a:ext cx="3261360" cy="306705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14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四、怎样深入实施新时代人才强国战略</a:t>
            </a:r>
            <a:endParaRPr lang="zh-CN" altLang="en-US" sz="14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" name="左大括号 6"/>
          <p:cNvSpPr/>
          <p:nvPr>
            <p:custDataLst>
              <p:tags r:id="rId1"/>
            </p:custDataLst>
          </p:nvPr>
        </p:nvSpPr>
        <p:spPr>
          <a:xfrm>
            <a:off x="436245" y="796290"/>
            <a:ext cx="215265" cy="467614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011805" y="91440"/>
            <a:ext cx="27692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</a:t>
            </a:r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坚持科教兴国战略是应对新时代环境变化的必然要求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56890" y="520700"/>
            <a:ext cx="27495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</a:t>
            </a:r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坚持科教兴国战略是社会主义现代化建设的历史经验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55620" y="907415"/>
            <a:ext cx="27330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（三）坚持科教兴国战略是中国式现代化理论的重要成果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1303655"/>
            <a:ext cx="29876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（四）实施科教兴国战略，发挥教育、科技、人才的系统集成功能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2" name="左大括号 11"/>
          <p:cNvSpPr/>
          <p:nvPr>
            <p:custDataLst>
              <p:tags r:id="rId2"/>
            </p:custDataLst>
          </p:nvPr>
        </p:nvSpPr>
        <p:spPr>
          <a:xfrm>
            <a:off x="2898775" y="295910"/>
            <a:ext cx="287655" cy="11423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663565" y="50800"/>
            <a:ext cx="286004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实施科教兴国战略</a:t>
            </a:r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是建设创新型国家的必然要求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63565" y="198755"/>
            <a:ext cx="27412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实施科教兴国战略是顺应时代转型的必然要求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71820" y="366395"/>
            <a:ext cx="273304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实施科教兴国战略</a:t>
            </a:r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是应对国际竞争的必然要求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左大括号 15"/>
          <p:cNvSpPr/>
          <p:nvPr>
            <p:custDataLst>
              <p:tags r:id="rId3"/>
            </p:custDataLst>
          </p:nvPr>
        </p:nvSpPr>
        <p:spPr>
          <a:xfrm>
            <a:off x="5663565" y="161290"/>
            <a:ext cx="76200" cy="2825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0D01FF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63565" y="751205"/>
            <a:ext cx="21272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新时代科教兴国战略的使命任务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81040" y="981075"/>
            <a:ext cx="197231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新时代科教兴国战略的总体部署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左大括号 18"/>
          <p:cNvSpPr/>
          <p:nvPr>
            <p:custDataLst>
              <p:tags r:id="rId4"/>
            </p:custDataLst>
          </p:nvPr>
        </p:nvSpPr>
        <p:spPr>
          <a:xfrm>
            <a:off x="5704840" y="907415"/>
            <a:ext cx="76200" cy="2825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0D01FF"/>
              </a:solidFill>
            </a:endParaRPr>
          </a:p>
        </p:txBody>
      </p:sp>
      <p:sp>
        <p:nvSpPr>
          <p:cNvPr id="20" name="左大括号 19"/>
          <p:cNvSpPr/>
          <p:nvPr>
            <p:custDataLst>
              <p:tags r:id="rId5"/>
            </p:custDataLst>
          </p:nvPr>
        </p:nvSpPr>
        <p:spPr>
          <a:xfrm>
            <a:off x="5945505" y="1345565"/>
            <a:ext cx="76200" cy="2825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0D01FF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21705" y="1195705"/>
            <a:ext cx="20999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dirty="0">
                <a:solidFill>
                  <a:srgbClr val="0D0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把握教育、科技、人才的内在逻辑</a:t>
            </a:r>
            <a:endParaRPr lang="zh-CN" altLang="en-US" sz="1000" dirty="0">
              <a:solidFill>
                <a:srgbClr val="0D01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21705" y="1349375"/>
            <a:ext cx="26238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kumimoji="1"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认识教育、科技、人才的多重系统集成功能</a:t>
            </a:r>
            <a:endParaRPr kumimoji="1"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21705" y="1518920"/>
            <a:ext cx="26238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dirty="0">
                <a:solidFill>
                  <a:srgbClr val="0D01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充分发挥教育、科技、人才的系统集成功能</a:t>
            </a:r>
            <a:endParaRPr lang="zh-CN" altLang="en-US" sz="1000" dirty="0">
              <a:solidFill>
                <a:srgbClr val="0D01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55950" y="1842770"/>
            <a:ext cx="18072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（一）推进教育现代化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55950" y="2075815"/>
            <a:ext cx="16338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（二）建设教育强国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55950" y="2355850"/>
            <a:ext cx="20186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（三）办好人民满意的教育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7" name="左大括号 26"/>
          <p:cNvSpPr/>
          <p:nvPr>
            <p:custDataLst>
              <p:tags r:id="rId6"/>
            </p:custDataLst>
          </p:nvPr>
        </p:nvSpPr>
        <p:spPr>
          <a:xfrm>
            <a:off x="3056890" y="1977390"/>
            <a:ext cx="234315" cy="55308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0D01FF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246120" y="2785110"/>
            <a:ext cx="21647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（一）发挥新型举国体制优势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282315" y="3136265"/>
            <a:ext cx="24930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（二）打赢关键核心技术攻坚战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91205" y="3503295"/>
            <a:ext cx="20269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（三）增强自主创新能力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1" name="左大括号 30"/>
          <p:cNvSpPr/>
          <p:nvPr>
            <p:custDataLst>
              <p:tags r:id="rId7"/>
            </p:custDataLst>
          </p:nvPr>
        </p:nvSpPr>
        <p:spPr>
          <a:xfrm>
            <a:off x="3155950" y="2908935"/>
            <a:ext cx="242570" cy="7169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0D01FF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85920" y="4491355"/>
            <a:ext cx="29222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（一）人才是国家和民族长远发展大计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185920" y="5026660"/>
            <a:ext cx="17259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（二）坚持党管人才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185920" y="5624195"/>
            <a:ext cx="30333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rgbClr val="0D01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（三）加快建设世界人才中心和创新高地</a:t>
            </a:r>
            <a:endParaRPr lang="zh-CN" altLang="en-US" sz="1200" dirty="0">
              <a:solidFill>
                <a:srgbClr val="0D01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5" name="左大括号 34"/>
          <p:cNvSpPr/>
          <p:nvPr>
            <p:custDataLst>
              <p:tags r:id="rId8"/>
            </p:custDataLst>
          </p:nvPr>
        </p:nvSpPr>
        <p:spPr>
          <a:xfrm>
            <a:off x="3980180" y="4650740"/>
            <a:ext cx="287655" cy="11423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15" grpId="0"/>
      <p:bldP spid="14" grpId="0"/>
      <p:bldP spid="17" grpId="0"/>
      <p:bldP spid="18" grpId="0"/>
      <p:bldP spid="21" grpId="0"/>
      <p:bldP spid="23" grpId="0"/>
      <p:bldP spid="8" grpId="1"/>
      <p:bldP spid="9" grpId="1"/>
      <p:bldP spid="10" grpId="1"/>
      <p:bldP spid="11" grpId="1"/>
      <p:bldP spid="13" grpId="1"/>
      <p:bldP spid="15" grpId="1"/>
      <p:bldP spid="14" grpId="1"/>
      <p:bldP spid="17" grpId="1"/>
      <p:bldP spid="18" grpId="1"/>
      <p:bldP spid="21" grpId="1"/>
      <p:bldP spid="23" grpId="1"/>
      <p:bldP spid="24" grpId="0"/>
      <p:bldP spid="25" grpId="0"/>
      <p:bldP spid="26" grpId="0"/>
      <p:bldP spid="24" grpId="1"/>
      <p:bldP spid="25" grpId="1"/>
      <p:bldP spid="26" grpId="1"/>
      <p:bldP spid="28" grpId="0"/>
      <p:bldP spid="29" grpId="0"/>
      <p:bldP spid="30" grpId="0"/>
      <p:bldP spid="28" grpId="1"/>
      <p:bldP spid="29" grpId="1"/>
      <p:bldP spid="30" grpId="1"/>
      <p:bldP spid="32" grpId="0"/>
      <p:bldP spid="33" grpId="0"/>
      <p:bldP spid="34" grpId="0"/>
      <p:bldP spid="32" grpId="1"/>
      <p:bldP spid="33" grpId="1"/>
      <p:bldP spid="3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9220" y="1146810"/>
            <a:ext cx="395605" cy="378460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第八讲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发展全过程人民民主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1210" y="728980"/>
            <a:ext cx="2698750" cy="73723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t">
            <a:spAutoFit/>
          </a:bodyPr>
          <a:p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一、什么是全过程人民民主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全链条、全方位、全覆盖的民主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4060" y="2860040"/>
            <a:ext cx="2756535" cy="73723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p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二、全过程人民民主好在哪里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最广泛、最真实、最管用的社会主义民主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7860" y="5133975"/>
            <a:ext cx="3213735" cy="737235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spAutoFit/>
          </a:bodyPr>
          <a:p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三、如何进一步发展全过程人民民主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把民主价值和理念转化为科学有效的制度安排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542290" y="995680"/>
            <a:ext cx="251460" cy="441960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左大括号 6"/>
          <p:cNvSpPr/>
          <p:nvPr>
            <p:custDataLst>
              <p:tags r:id="rId1"/>
            </p:custDataLst>
          </p:nvPr>
        </p:nvSpPr>
        <p:spPr>
          <a:xfrm>
            <a:off x="3542030" y="300355"/>
            <a:ext cx="152400" cy="152336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>
            <p:custDataLst>
              <p:tags r:id="rId2"/>
            </p:custDataLst>
          </p:nvPr>
        </p:nvSpPr>
        <p:spPr>
          <a:xfrm>
            <a:off x="4004945" y="4511040"/>
            <a:ext cx="187325" cy="1621155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>
            <p:custDataLst>
              <p:tags r:id="rId3"/>
            </p:custDataLst>
          </p:nvPr>
        </p:nvSpPr>
        <p:spPr>
          <a:xfrm>
            <a:off x="3652520" y="2567305"/>
            <a:ext cx="139065" cy="1472565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608705" y="140335"/>
            <a:ext cx="23533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（一）民主是一种国家形式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65830" y="1006475"/>
            <a:ext cx="29317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（二）人民民主是社会主义的生命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08705" y="1634490"/>
            <a:ext cx="2830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（三）全过程人民民主是全链条、全方位、全覆盖的民主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14415" y="26035"/>
            <a:ext cx="31343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社会主义民主的实质是人民当家作主</a:t>
            </a:r>
            <a:endParaRPr kumimoji="1"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4415" y="332740"/>
            <a:ext cx="13804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怎样评价民主</a:t>
            </a:r>
            <a:endParaRPr kumimoji="1"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左大括号 14"/>
          <p:cNvSpPr/>
          <p:nvPr>
            <p:custDataLst>
              <p:tags r:id="rId4"/>
            </p:custDataLst>
          </p:nvPr>
        </p:nvSpPr>
        <p:spPr>
          <a:xfrm>
            <a:off x="7456805" y="332740"/>
            <a:ext cx="76200" cy="37973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7583170" y="453390"/>
            <a:ext cx="368109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从功效看，民主要用来解决人民需要解决的问题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83170" y="62166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从标准看，民主作为一种国家制度，有其基本的评价依据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83170" y="244475"/>
            <a:ext cx="358902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从主体看，民主应该由这个国家的人民来评判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左大括号 17"/>
          <p:cNvSpPr/>
          <p:nvPr>
            <p:custDataLst>
              <p:tags r:id="rId5"/>
            </p:custDataLst>
          </p:nvPr>
        </p:nvSpPr>
        <p:spPr>
          <a:xfrm>
            <a:off x="6038215" y="140335"/>
            <a:ext cx="76200" cy="37973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397625" y="838835"/>
            <a:ext cx="237045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没有民主，就不可能有社会主义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97625" y="1071880"/>
            <a:ext cx="267589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没有民主就没有社会主义的现代化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97625" y="1289050"/>
            <a:ext cx="259461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没有民主就没有中华民族伟大复兴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左大括号 21"/>
          <p:cNvSpPr/>
          <p:nvPr>
            <p:custDataLst>
              <p:tags r:id="rId6"/>
            </p:custDataLst>
          </p:nvPr>
        </p:nvSpPr>
        <p:spPr>
          <a:xfrm>
            <a:off x="6397625" y="1006475"/>
            <a:ext cx="76200" cy="39941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左大括号 22"/>
          <p:cNvSpPr/>
          <p:nvPr>
            <p:custDataLst>
              <p:tags r:id="rId7"/>
            </p:custDataLst>
          </p:nvPr>
        </p:nvSpPr>
        <p:spPr>
          <a:xfrm>
            <a:off x="6362700" y="1597025"/>
            <a:ext cx="76200" cy="37973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114415" y="1466215"/>
            <a:ext cx="285877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全过程人民民主重大理念发展历程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14415" y="1823720"/>
            <a:ext cx="305054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具有完整的制度程序和完整的参与实践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693795" y="2422525"/>
            <a:ext cx="2582545" cy="316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zh-CN" altLang="en-US" sz="1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（一）人民民主参与不断扩大</a:t>
            </a:r>
            <a:endParaRPr lang="zh-CN" altLang="en-US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62700" y="2110740"/>
            <a:ext cx="329438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、民主参与的形式不断创新、渠道不断拓展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52540" y="2301240"/>
            <a:ext cx="267589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、人民参与的广度和深度不断拓展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52540" y="2491105"/>
            <a:ext cx="199580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、人民利益要求畅通表达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362700" y="2686685"/>
            <a:ext cx="205486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、人民利益要求得到回应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左大括号 30"/>
          <p:cNvSpPr/>
          <p:nvPr/>
        </p:nvSpPr>
        <p:spPr>
          <a:xfrm>
            <a:off x="6311265" y="2300605"/>
            <a:ext cx="86360" cy="57721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639820" y="3134995"/>
            <a:ext cx="185420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1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（二）国家治理高效</a:t>
            </a:r>
            <a:endParaRPr lang="zh-CN" altLang="en-US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590540" y="3001010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、充分彰显人民的主体地位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603875" y="3215005"/>
            <a:ext cx="197929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、有效调节国家政治关系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90540" y="3441700"/>
            <a:ext cx="385508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、把党的主张、国家意志、人民意愿紧密融合在一起</a:t>
            </a:r>
            <a:endParaRPr lang="zh-CN" alt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左大括号 35"/>
          <p:cNvSpPr/>
          <p:nvPr>
            <p:custDataLst>
              <p:tags r:id="rId8"/>
            </p:custDataLst>
          </p:nvPr>
        </p:nvSpPr>
        <p:spPr>
          <a:xfrm>
            <a:off x="5494020" y="3081020"/>
            <a:ext cx="96520" cy="47117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652520" y="3459480"/>
            <a:ext cx="212915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1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（三）社会和谐稳定</a:t>
            </a:r>
            <a:endParaRPr lang="zh-CN" altLang="en-US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376930" y="3851275"/>
            <a:ext cx="33299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1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（四）权力运用得到有效制约和监督</a:t>
            </a:r>
            <a:endParaRPr lang="zh-CN" alt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766820" y="4330700"/>
            <a:ext cx="409257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1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（一）坚持走中国特色社会主义政治发展道路</a:t>
            </a:r>
            <a:endParaRPr lang="zh-CN" altLang="en-US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004945" y="4756785"/>
            <a:ext cx="2978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>
                <a:srgbClr val="C00000"/>
              </a:buClr>
              <a:buSzPct val="80000"/>
            </a:pP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（二）加强人民当家作主制度保障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872230" y="5133975"/>
            <a:ext cx="25253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>
                <a:srgbClr val="C00000"/>
              </a:buClr>
              <a:buSzPct val="80000"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三）全面发展协商民主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916045" y="5562600"/>
            <a:ext cx="23533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>
                <a:srgbClr val="C00000"/>
              </a:buClr>
              <a:buSzPct val="80000"/>
              <a:buFontTx/>
            </a:pP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（四）积极发展基层民主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004945" y="5939790"/>
            <a:ext cx="34188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>
                <a:srgbClr val="C00000"/>
              </a:buClr>
              <a:buSzPct val="80000"/>
              <a:buFontTx/>
            </a:pP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（五）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巩固和发展最广泛的爱国统一战线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1" grpId="1" animBg="1"/>
      <p:bldP spid="12" grpId="0"/>
      <p:bldP spid="13" grpId="0"/>
      <p:bldP spid="14" grpId="0"/>
      <p:bldP spid="100" grpId="0"/>
      <p:bldP spid="16" grpId="0"/>
      <p:bldP spid="17" grpId="0"/>
      <p:bldP spid="19" grpId="0"/>
      <p:bldP spid="20" grpId="0"/>
      <p:bldP spid="21" grpId="0"/>
      <p:bldP spid="24" grpId="0"/>
      <p:bldP spid="25" grpId="0"/>
      <p:bldP spid="11" grpId="0"/>
      <p:bldP spid="12" grpId="1"/>
      <p:bldP spid="13" grpId="1"/>
      <p:bldP spid="14" grpId="1"/>
      <p:bldP spid="100" grpId="1"/>
      <p:bldP spid="16" grpId="1"/>
      <p:bldP spid="17" grpId="1"/>
      <p:bldP spid="19" grpId="1"/>
      <p:bldP spid="20" grpId="1"/>
      <p:bldP spid="21" grpId="1"/>
      <p:bldP spid="24" grpId="1"/>
      <p:bldP spid="25" grpId="1"/>
      <p:bldP spid="11" grpId="1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7" grpId="0"/>
      <p:bldP spid="38" grpId="0"/>
      <p:bldP spid="35" grpId="0"/>
      <p:bldP spid="26" grpId="1"/>
      <p:bldP spid="27" grpId="1"/>
      <p:bldP spid="28" grpId="1"/>
      <p:bldP spid="29" grpId="1"/>
      <p:bldP spid="30" grpId="1"/>
      <p:bldP spid="32" grpId="1"/>
      <p:bldP spid="33" grpId="1"/>
      <p:bldP spid="34" grpId="1"/>
      <p:bldP spid="37" grpId="1"/>
      <p:bldP spid="38" grpId="1"/>
      <p:bldP spid="35" grpId="1"/>
      <p:bldP spid="39" grpId="0"/>
      <p:bldP spid="40" grpId="0"/>
      <p:bldP spid="41" grpId="0"/>
      <p:bldP spid="42" grpId="0"/>
      <p:bldP spid="43" grpId="0"/>
      <p:bldP spid="39" grpId="1"/>
      <p:bldP spid="40" grpId="1"/>
      <p:bldP spid="41" grpId="1"/>
      <p:bldP spid="42" grpId="1"/>
      <p:bldP spid="4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2260" y="1301115"/>
            <a:ext cx="467360" cy="341503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第九讲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全面依法治国</a:t>
            </a:r>
            <a:endParaRPr lang="zh-CN" alt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84910" y="706120"/>
            <a:ext cx="5119370" cy="1265555"/>
            <a:chOff x="4657061" y="721485"/>
            <a:chExt cx="7560000" cy="1266113"/>
          </a:xfrm>
        </p:grpSpPr>
        <p:sp>
          <p:nvSpPr>
            <p:cNvPr id="8" name="文本框 7"/>
            <p:cNvSpPr txBox="1"/>
            <p:nvPr/>
          </p:nvSpPr>
          <p:spPr>
            <a:xfrm>
              <a:off x="5023997" y="721485"/>
              <a:ext cx="7020000" cy="368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buClr>
                  <a:srgbClr val="C00000"/>
                </a:buClr>
                <a:buSzPct val="80000"/>
                <a:defRPr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endParaRPr lang="zh-CN" altLang="en-US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4657061" y="1987598"/>
              <a:ext cx="756000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116965" y="697230"/>
            <a:ext cx="3743325" cy="3683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一、为什么要全面推进依法治国</a:t>
            </a:r>
            <a:endParaRPr lang="zh-CN" altLang="en-US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80770" y="1828165"/>
            <a:ext cx="3858260" cy="64516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二、为什么要走中国特色社会主义法治道路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80770" y="3361690"/>
            <a:ext cx="3900805" cy="36830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三、如何理解全面依法治国的总目标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6965" y="5138420"/>
            <a:ext cx="3822065" cy="368300"/>
          </a:xfrm>
          <a:prstGeom prst="rect">
            <a:avLst/>
          </a:prstGeom>
          <a:solidFill>
            <a:srgbClr val="00B050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四、如何建设法治中国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0" name="左大括号 19"/>
          <p:cNvSpPr/>
          <p:nvPr/>
        </p:nvSpPr>
        <p:spPr>
          <a:xfrm>
            <a:off x="837565" y="955675"/>
            <a:ext cx="279400" cy="424751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981575" y="2133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（一）法治是社会文明进步的重要标志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981575" y="661035"/>
            <a:ext cx="6751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（二）全面依法治国是国家治理现代化的必然要求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981575" y="11385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（三）在法治轨道上全面建设社会主义现代化国家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4" name="左大括号 33"/>
          <p:cNvSpPr/>
          <p:nvPr/>
        </p:nvSpPr>
        <p:spPr>
          <a:xfrm>
            <a:off x="4981575" y="424180"/>
            <a:ext cx="154305" cy="91440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4981575" y="15982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全面依法治国必须走对路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981575" y="19665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（二）中国特色社会主义法治道路的核心要义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981575" y="23583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三）走中国特色社会主义法治道路必须坚持的基本原则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8" name="左大括号 47"/>
          <p:cNvSpPr/>
          <p:nvPr/>
        </p:nvSpPr>
        <p:spPr>
          <a:xfrm>
            <a:off x="4987290" y="1800860"/>
            <a:ext cx="148590" cy="711835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063490" y="29451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全面依法治国的总抓手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068570" y="33616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中国特色社会主义法治体系的基本框架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063490" y="37782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坚持和完善中国特色社会主义法治体系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1" name="左大括号 60"/>
          <p:cNvSpPr/>
          <p:nvPr/>
        </p:nvSpPr>
        <p:spPr>
          <a:xfrm>
            <a:off x="5063490" y="3118485"/>
            <a:ext cx="154305" cy="91440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5063490" y="42672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完善以宪法为核心的中国特色社会主义法律体系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5063490" y="47161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扎实推进依法行政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063490" y="51390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严格公正司法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063490" y="55619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（四）加快建设法治社会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063490" y="59848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（五）加强法治工作队伍建设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2" name="左大括号 81"/>
          <p:cNvSpPr/>
          <p:nvPr/>
        </p:nvSpPr>
        <p:spPr>
          <a:xfrm>
            <a:off x="4987290" y="4503420"/>
            <a:ext cx="235585" cy="1610995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0" grpId="1"/>
      <p:bldP spid="31" grpId="1"/>
      <p:bldP spid="32" grpId="1"/>
      <p:bldP spid="44" grpId="0"/>
      <p:bldP spid="45" grpId="0"/>
      <p:bldP spid="47" grpId="0"/>
      <p:bldP spid="44" grpId="1"/>
      <p:bldP spid="45" grpId="1"/>
      <p:bldP spid="47" grpId="1"/>
      <p:bldP spid="58" grpId="0"/>
      <p:bldP spid="59" grpId="0"/>
      <p:bldP spid="60" grpId="0"/>
      <p:bldP spid="58" grpId="1"/>
      <p:bldP spid="59" grpId="1"/>
      <p:bldP spid="60" grpId="1"/>
      <p:bldP spid="77" grpId="0"/>
      <p:bldP spid="78" grpId="0"/>
      <p:bldP spid="79" grpId="0"/>
      <p:bldP spid="80" grpId="0"/>
      <p:bldP spid="81" grpId="0"/>
      <p:bldP spid="77" grpId="1"/>
      <p:bldP spid="78" grpId="1"/>
      <p:bldP spid="79" grpId="1"/>
      <p:bldP spid="80" grpId="1"/>
      <p:bldP spid="8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1400" y="517525"/>
            <a:ext cx="4088130" cy="36830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一、为什么建设中国特色社会主义文化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70195" y="4789170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(一) 推动中华优秀传统文化创造性转化、创新性发展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(二) 用中国特色社会主义文化培根铸魂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(三)</a:t>
            </a:r>
            <a:r>
              <a:rPr lang="en-US" altLang="zh-CN"/>
              <a:t> </a:t>
            </a:r>
            <a:r>
              <a:rPr lang="zh-CN" altLang="en-US"/>
              <a:t>推进文化事业和文化产业全面发展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(四) 讲好中国故事，传播好中国声音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96230" y="75565"/>
            <a:ext cx="609600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(一)文化是一个国家、一个民族的灵魂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(二)没有文化繁荣兴盛就没有中华民族伟大复兴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(三)更好满足人民日益增长的精神文化需要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94740" y="2021205"/>
            <a:ext cx="3973195" cy="645160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二、为什么要坚持马克思主义在意识形态领域指导地位的根本制度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3530" y="146748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(一)意识形态工作是党的一项极端重要的工作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(二)巩固马克思主义在意识形态领域的指导地位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(三) 不断增强意识形态领域主导权和话语权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(四)互联网是意识形态斗争的主阵地、主战场、最前沿</a:t>
            </a:r>
            <a:endParaRPr lang="en-US" altLang="zh-CN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51890" y="3682365"/>
            <a:ext cx="3883025" cy="64516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三、为什么要用社会主义核心价值观凝心聚力</a:t>
            </a:r>
            <a:endParaRPr lang="zh-CN" altLang="en-US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84470" y="3226435"/>
            <a:ext cx="609600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(一) 文化的影响力首先是价值观念的影响力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(二) 社会主义核心价值观的内涵要义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(三) 培育和践行社会主义核心价值观</a:t>
            </a:r>
            <a:endParaRPr lang="zh-CN" altLang="en-US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7755" y="5343525"/>
            <a:ext cx="3952240" cy="645160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四、如何提升国家文化软实力和中华文化影响力</a:t>
            </a:r>
            <a:endParaRPr lang="zh-CN" altLang="en-US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2730" y="663575"/>
            <a:ext cx="504825" cy="510794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第十讲</a:t>
            </a:r>
            <a:endParaRPr lang="zh-CN" alt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建设社会主义文化强国</a:t>
            </a:r>
            <a:endParaRPr lang="zh-CN" alt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819785" y="885190"/>
            <a:ext cx="205740" cy="466407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大括号 11"/>
          <p:cNvSpPr/>
          <p:nvPr/>
        </p:nvSpPr>
        <p:spPr>
          <a:xfrm>
            <a:off x="5238750" y="317500"/>
            <a:ext cx="157480" cy="795020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大括号 12"/>
          <p:cNvSpPr/>
          <p:nvPr/>
        </p:nvSpPr>
        <p:spPr>
          <a:xfrm>
            <a:off x="5154930" y="1768475"/>
            <a:ext cx="228600" cy="123253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大括号 13"/>
          <p:cNvSpPr/>
          <p:nvPr/>
        </p:nvSpPr>
        <p:spPr>
          <a:xfrm>
            <a:off x="5130165" y="3554095"/>
            <a:ext cx="154305" cy="88265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左大括号 14"/>
          <p:cNvSpPr/>
          <p:nvPr/>
        </p:nvSpPr>
        <p:spPr>
          <a:xfrm>
            <a:off x="5166360" y="5126990"/>
            <a:ext cx="229870" cy="1214120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8" grpId="0"/>
      <p:bldP spid="8" grpId="1"/>
      <p:bldP spid="3" grpId="0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1935" y="431165"/>
            <a:ext cx="477520" cy="507746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pPr algn="just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第十一讲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/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加强以民生为重点的社会建设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6335" y="613410"/>
            <a:ext cx="3769360" cy="3683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一、为什么说“悠悠万事，民生为大”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3000" y="2694305"/>
            <a:ext cx="3885565" cy="64516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二、怎样增强人民获得感、幸福感、安全感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0150" y="5051425"/>
            <a:ext cx="3742690" cy="36830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三、怎样推进社会治理现代化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817245" y="742950"/>
            <a:ext cx="241300" cy="4676775"/>
          </a:xfrm>
          <a:prstGeom prst="lef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33340" y="297180"/>
            <a:ext cx="30219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（一）民生是最大的政治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18100" y="665480"/>
            <a:ext cx="3768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（二）人民美好生活需要日益增长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04130" y="1033780"/>
            <a:ext cx="4503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（三）增进民生福祉是发展的根本目的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5038725" y="364490"/>
            <a:ext cx="154305" cy="914400"/>
          </a:xfrm>
          <a:prstGeom prst="leftBrace">
            <a:avLst/>
          </a:prstGeom>
          <a:ln w="254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193030" y="2404745"/>
            <a:ext cx="4634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（一）抓住人民最关心最直接最现实的利益问题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93030" y="2870835"/>
            <a:ext cx="3834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（二）坚决打赢脱贫攻坚战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93030" y="3239135"/>
            <a:ext cx="5172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（三）抗疫斗争最大限度保护人民生命安全和身体健康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左大括号 28"/>
          <p:cNvSpPr/>
          <p:nvPr/>
        </p:nvSpPr>
        <p:spPr>
          <a:xfrm>
            <a:off x="5193030" y="2543810"/>
            <a:ext cx="154305" cy="914400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084445" y="4533265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（一）坚持系统治理、综合治理、依法治理、源头治理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084445" y="4959350"/>
            <a:ext cx="6734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（二）健全党组织领导的自治、法治、德治相结合的城乡基层治理体系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90160" y="5508625"/>
            <a:ext cx="31337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（三）加强社会治安综合治理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" name="左大括号 53"/>
          <p:cNvSpPr/>
          <p:nvPr/>
        </p:nvSpPr>
        <p:spPr>
          <a:xfrm>
            <a:off x="5090160" y="4707890"/>
            <a:ext cx="154305" cy="914400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7" grpId="1"/>
      <p:bldP spid="8" grpId="1"/>
      <p:bldP spid="9" grpId="1"/>
      <p:bldP spid="26" grpId="0"/>
      <p:bldP spid="27" grpId="0"/>
      <p:bldP spid="28" grpId="0"/>
      <p:bldP spid="26" grpId="1"/>
      <p:bldP spid="27" grpId="1"/>
      <p:bldP spid="28" grpId="1"/>
      <p:bldP spid="51" grpId="0"/>
      <p:bldP spid="52" grpId="0"/>
      <p:bldP spid="53" grpId="0"/>
      <p:bldP spid="51" grpId="1"/>
      <p:bldP spid="52" grpId="1"/>
      <p:bldP spid="5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7155" y="951865"/>
            <a:ext cx="404495" cy="470789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第十二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讲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建设社会主义生态文明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945765" y="2786380"/>
            <a:ext cx="756031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945765" y="4826000"/>
            <a:ext cx="756031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66775" y="716915"/>
            <a:ext cx="3124200" cy="39878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p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一、为什么建设生态文明 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7410" y="2816225"/>
            <a:ext cx="3308985" cy="398780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p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二、建设什么样的生态文明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7410" y="5086350"/>
            <a:ext cx="3173095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三、怎样建设美丽中国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608965" y="1037590"/>
            <a:ext cx="233045" cy="428371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28135" y="118110"/>
            <a:ext cx="28536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（一）顺应人类文明进程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28135" y="483870"/>
            <a:ext cx="416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（二）破解我国经济社会发展短板问题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0" name="左大括号 29"/>
          <p:cNvSpPr/>
          <p:nvPr/>
        </p:nvSpPr>
        <p:spPr>
          <a:xfrm>
            <a:off x="4128135" y="372745"/>
            <a:ext cx="191135" cy="1142365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4126865" y="855345"/>
            <a:ext cx="477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（三）满足人民日益增长的优美生态环境需要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26865" y="1223645"/>
            <a:ext cx="36296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（四）应对全球生态环境领域挑战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227195" y="1805940"/>
            <a:ext cx="36550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（一）人与自然和谐共生的现代化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227195" y="2165350"/>
            <a:ext cx="3236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（二）绿水青山就是金山银山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227195" y="25273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（三）良好生态环境是最普惠的民生福祉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227830" y="29127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（四）山水林田湖草沙是生命共同体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218940" y="33159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（五）用最严格制度最严密法治保护生态环境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218940" y="37191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（六）共谋全球生态文明建设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7" name="左大括号 56"/>
          <p:cNvSpPr/>
          <p:nvPr/>
        </p:nvSpPr>
        <p:spPr>
          <a:xfrm>
            <a:off x="4227195" y="1963420"/>
            <a:ext cx="154305" cy="1959610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左大括号 57"/>
          <p:cNvSpPr/>
          <p:nvPr/>
        </p:nvSpPr>
        <p:spPr>
          <a:xfrm>
            <a:off x="4164330" y="4570095"/>
            <a:ext cx="209550" cy="158877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4218940" y="4339590"/>
            <a:ext cx="3244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（一）加快发展方式绿色转型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227830" y="4720590"/>
            <a:ext cx="3261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深入推进环境污染防治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227830" y="5101590"/>
            <a:ext cx="3647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（三）系统推进生态环境保护修复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246245" y="5485130"/>
            <a:ext cx="36645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（四）积极稳妥推进碳达峰碳中和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246245" y="5868670"/>
            <a:ext cx="41109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（五）改革完善生态环境监管考核体制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1" grpId="0"/>
      <p:bldP spid="32" grpId="0"/>
      <p:bldP spid="8" grpId="1"/>
      <p:bldP spid="9" grpId="1"/>
      <p:bldP spid="31" grpId="1"/>
      <p:bldP spid="32" grpId="1"/>
      <p:bldP spid="51" grpId="0"/>
      <p:bldP spid="52" grpId="0"/>
      <p:bldP spid="53" grpId="0"/>
      <p:bldP spid="54" grpId="0"/>
      <p:bldP spid="55" grpId="0"/>
      <p:bldP spid="56" grpId="0"/>
      <p:bldP spid="51" grpId="1"/>
      <p:bldP spid="52" grpId="1"/>
      <p:bldP spid="53" grpId="1"/>
      <p:bldP spid="54" grpId="1"/>
      <p:bldP spid="55" grpId="1"/>
      <p:bldP spid="56" grpId="1"/>
      <p:bldP spid="74" grpId="0"/>
      <p:bldP spid="75" grpId="0"/>
      <p:bldP spid="76" grpId="0"/>
      <p:bldP spid="77" grpId="0"/>
      <p:bldP spid="78" grpId="0"/>
      <p:bldP spid="74" grpId="1"/>
      <p:bldP spid="75" grpId="1"/>
      <p:bldP spid="76" grpId="1"/>
      <p:bldP spid="77" grpId="1"/>
      <p:bldP spid="7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2585" y="352425"/>
            <a:ext cx="409575" cy="5323205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第十三讲</a:t>
            </a:r>
            <a:endParaRPr lang="zh-CN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just" fontAlgn="auto">
              <a:lnSpc>
                <a:spcPct val="100000"/>
              </a:lnSpc>
            </a:pP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全面贯彻落实总体国家安全观</a:t>
            </a:r>
            <a:endParaRPr lang="zh-CN" altLang="zh-CN" sz="20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2370" y="859155"/>
            <a:ext cx="4156075" cy="36830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一、为什么说保证国家安全是头等大事</a:t>
            </a:r>
            <a:endParaRPr lang="zh-CN" alt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2540" y="2327275"/>
            <a:ext cx="3415665" cy="506730"/>
          </a:xfrm>
          <a:prstGeom prst="rect">
            <a:avLst/>
          </a:prstGeom>
          <a:solidFill>
            <a:srgbClr val="00B050"/>
          </a:solidFill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二、什么是总体国家安全观</a:t>
            </a:r>
            <a:endParaRPr lang="zh-CN" altLang="en-US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6655" y="3962400"/>
            <a:ext cx="4417695" cy="36830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三、怎样推进国家安全体系和能力现代化</a:t>
            </a:r>
            <a:endParaRPr lang="zh-CN" altLang="en-US" sz="20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922655" y="1063625"/>
            <a:ext cx="259715" cy="319341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455920" y="352425"/>
            <a:ext cx="48768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（一）安而不忘危，存而不忘亡，治而不忘乱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40045" y="972185"/>
            <a:ext cx="631825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（二）新时代国家安全经受住了来自多方面的风险挑战考验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5440045" y="655955"/>
            <a:ext cx="154305" cy="661035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778375" y="2327275"/>
            <a:ext cx="398970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（二）总体国家安全观的丰富内涵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778375" y="2782570"/>
            <a:ext cx="550926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</a:t>
            </a:r>
            <a:r>
              <a:rPr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贯彻总体国家安全观要统筹推进重点领域安全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786630" y="1810385"/>
            <a:ext cx="6096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（一）总体国家安全观的形成过程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9" name="左大括号 38"/>
          <p:cNvSpPr/>
          <p:nvPr/>
        </p:nvSpPr>
        <p:spPr>
          <a:xfrm>
            <a:off x="4778375" y="2123440"/>
            <a:ext cx="154305" cy="914400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632450" y="3612515"/>
            <a:ext cx="39052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（一）加强国家安全体系和能力建设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632450" y="4216400"/>
            <a:ext cx="37325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（二）提高防范化解重大风险能力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3" name="左大括号 42"/>
          <p:cNvSpPr/>
          <p:nvPr/>
        </p:nvSpPr>
        <p:spPr>
          <a:xfrm>
            <a:off x="5632450" y="3795395"/>
            <a:ext cx="173990" cy="620395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  <p:bldP spid="36" grpId="0"/>
      <p:bldP spid="36" grpId="1"/>
      <p:bldP spid="37" grpId="0"/>
      <p:bldP spid="37" grpId="1"/>
      <p:bldP spid="38" grpId="0"/>
      <p:bldP spid="38" grpId="1"/>
      <p:bldP spid="40" grpId="0"/>
      <p:bldP spid="40" grpId="1"/>
      <p:bldP spid="42" grpId="0"/>
      <p:bldP spid="4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5120" y="618490"/>
            <a:ext cx="395605" cy="5323205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华文新魏" panose="02010800040101010101" pitchFamily="2" charset="-122"/>
              </a:rPr>
              <a:t>第十四讲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建设巩固国防和强大人民军队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913130" y="1228725"/>
            <a:ext cx="182880" cy="366522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6330" y="1000125"/>
            <a:ext cx="4090670" cy="3683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一、为什么要建设一支强大人民军队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7135" y="2844800"/>
            <a:ext cx="4083685" cy="368300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二、怎样建设巩固国防和强大人民军队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95" y="4689475"/>
            <a:ext cx="5231765" cy="368300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三、人民军队怎样捍卫国家主权、安全、发展利益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5287645" y="618490"/>
            <a:ext cx="205105" cy="1114425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/>
        </p:nvSpPr>
        <p:spPr>
          <a:xfrm>
            <a:off x="5432425" y="2470150"/>
            <a:ext cx="169545" cy="1117600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>
            <a:off x="6460490" y="4244340"/>
            <a:ext cx="245110" cy="119824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287645" y="382905"/>
            <a:ext cx="4541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（一）当今世界百年未有之大变局加速演进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87645" y="751205"/>
            <a:ext cx="43021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（二）我国处于由大向强发展的关键阶段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10505" y="1111250"/>
            <a:ext cx="32727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（三）国际军事竞争日趋激烈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10505" y="1479550"/>
            <a:ext cx="34188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（四）我军需要一场革命性变革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432425" y="2188210"/>
            <a:ext cx="36315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（一）确立党在新时代的强军目标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432425" y="2592070"/>
            <a:ext cx="28079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（二）贯彻政治建军方略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433695" y="2946400"/>
            <a:ext cx="29356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（三）深化国防和军队改革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443855" y="3292475"/>
            <a:ext cx="3326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（四）聚焦能打胜仗练兵备战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486525" y="4432935"/>
            <a:ext cx="351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（二）新时代人民军队使命任务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480810" y="4025900"/>
            <a:ext cx="414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（一）人民军队实现整体性革命性重塑 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486525" y="4801235"/>
            <a:ext cx="336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（三）坚定灵活开展军事斗争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486525" y="5220335"/>
            <a:ext cx="2972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（四）积极遂行重大任务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1" grpId="1"/>
      <p:bldP spid="22" grpId="1"/>
      <p:bldP spid="23" grpId="1"/>
      <p:bldP spid="24" grpId="1"/>
      <p:bldP spid="37" grpId="0"/>
      <p:bldP spid="38" grpId="0"/>
      <p:bldP spid="39" grpId="0"/>
      <p:bldP spid="40" grpId="0"/>
      <p:bldP spid="37" grpId="1"/>
      <p:bldP spid="38" grpId="1"/>
      <p:bldP spid="39" grpId="1"/>
      <p:bldP spid="40" grpId="1"/>
      <p:bldP spid="64" grpId="0"/>
      <p:bldP spid="63" grpId="0"/>
      <p:bldP spid="65" grpId="0"/>
      <p:bldP spid="66" grpId="0"/>
      <p:bldP spid="64" grpId="1"/>
      <p:bldP spid="63" grpId="1"/>
      <p:bldP spid="65" grpId="1"/>
      <p:bldP spid="6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9885" y="663575"/>
            <a:ext cx="415925" cy="5939155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第十五讲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坚持“一国两制”和推进祖国统一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875918" y="2763487"/>
            <a:ext cx="8056239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2877078" y="3819871"/>
            <a:ext cx="8055079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875918" y="4959061"/>
            <a:ext cx="8056239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298950" y="1545590"/>
            <a:ext cx="5627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sym typeface="+mn-ea"/>
              </a:rPr>
              <a:t>（三）坚持和完善“一国两制”制度体系</a:t>
            </a:r>
            <a:endParaRPr lang="zh-CN" altLang="en-US" sz="2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2370" y="1195705"/>
            <a:ext cx="3025775" cy="39878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zh-CN" altLang="en-US" sz="2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一、如何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坚持“一国两制”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82370" y="2774950"/>
            <a:ext cx="3143250" cy="92202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二、为什么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说“一国两制” 行得通、办得到、得人心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82370" y="4413250"/>
            <a:ext cx="3569970" cy="9220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三、为什么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说祖国完全统一的时和势始终在我们这一边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887095" y="1318895"/>
            <a:ext cx="248285" cy="372364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>
            <a:off x="4379595" y="887730"/>
            <a:ext cx="154305" cy="914400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左大括号 10"/>
          <p:cNvSpPr/>
          <p:nvPr/>
        </p:nvSpPr>
        <p:spPr>
          <a:xfrm>
            <a:off x="4373245" y="2702560"/>
            <a:ext cx="233045" cy="1014095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大括号 11"/>
          <p:cNvSpPr/>
          <p:nvPr/>
        </p:nvSpPr>
        <p:spPr>
          <a:xfrm>
            <a:off x="4827270" y="4510405"/>
            <a:ext cx="154305" cy="91440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379595" y="663575"/>
            <a:ext cx="609536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</a:t>
            </a:r>
            <a:r>
              <a:rPr lang="zh-CN" altLang="en-US" sz="2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）“一国两制”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是前无古人的开创性事业</a:t>
            </a:r>
            <a:endParaRPr lang="zh-CN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79595" y="1104265"/>
            <a:ext cx="662305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</a:t>
            </a:r>
            <a:r>
              <a:rPr lang="zh-CN" altLang="en-US" sz="2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）全面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准确、坚定不移贯彻“一国两制”方针</a:t>
            </a:r>
            <a:endParaRPr lang="zh-CN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73245" y="2408555"/>
            <a:ext cx="6155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000" b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</a:t>
            </a: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）推动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香港进入由乱到治走向由治及兴的新阶段</a:t>
            </a:r>
            <a:endParaRPr lang="zh-CN" altLang="en-US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04995" y="2919730"/>
            <a:ext cx="6520180" cy="307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000" b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</a:t>
            </a: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）推进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具有澳门特色的“一国两制”事业行稳致远</a:t>
            </a:r>
            <a:endParaRPr lang="zh-CN" altLang="en-US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04995" y="3474720"/>
            <a:ext cx="49479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000" b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</a:t>
            </a: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）支持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香港、澳门融入国家发展大局</a:t>
            </a:r>
            <a:endParaRPr lang="zh-CN" altLang="en-US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27270" y="4217035"/>
            <a:ext cx="592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000" b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</a:t>
            </a: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）坚决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贯彻新时代党解决台湾问题的总体方略</a:t>
            </a:r>
            <a:endParaRPr lang="zh-CN" altLang="en-US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27270" y="4680585"/>
            <a:ext cx="49688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000" b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</a:t>
            </a: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）牢牢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把握两岸关系主导权和主动权</a:t>
            </a:r>
            <a:endParaRPr lang="zh-CN" altLang="en-US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27270" y="5103495"/>
            <a:ext cx="4249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000" b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</a:t>
            </a:r>
            <a:r>
              <a: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）坚定不移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推进祖国统一大业</a:t>
            </a:r>
            <a:endParaRPr lang="zh-CN" altLang="en-US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3" grpId="0"/>
      <p:bldP spid="13" grpId="1"/>
      <p:bldP spid="14" grpId="1"/>
      <p:bldP spid="3" grpId="1"/>
      <p:bldP spid="17" grpId="0"/>
      <p:bldP spid="18" grpId="0"/>
      <p:bldP spid="19" grpId="0"/>
      <p:bldP spid="17" grpId="1"/>
      <p:bldP spid="18" grpId="1"/>
      <p:bldP spid="19" grpId="1"/>
      <p:bldP spid="20" grpId="0"/>
      <p:bldP spid="21" grpId="0"/>
      <p:bldP spid="22" grpId="0"/>
      <p:bldP spid="20" grpId="1"/>
      <p:bldP spid="21" grpId="1"/>
      <p:bldP spid="2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0685" y="1163955"/>
            <a:ext cx="426085" cy="470789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第十六讲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推动构建人类命运共同体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129030" y="1189355"/>
            <a:ext cx="2323465" cy="39878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一、世界怎么了</a:t>
            </a: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157135" y="2604448"/>
            <a:ext cx="756000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129030" y="2916555"/>
            <a:ext cx="2324100" cy="39878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二、人类向何处去</a:t>
            </a: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157135" y="3626800"/>
            <a:ext cx="756000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1132840" y="4938395"/>
            <a:ext cx="2324735" cy="39878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三、中国怎么办</a:t>
            </a: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157135" y="4643675"/>
            <a:ext cx="756000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左大括号 2"/>
          <p:cNvSpPr/>
          <p:nvPr/>
        </p:nvSpPr>
        <p:spPr>
          <a:xfrm>
            <a:off x="941070" y="1525905"/>
            <a:ext cx="191770" cy="366395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左大括号 3"/>
          <p:cNvSpPr/>
          <p:nvPr/>
        </p:nvSpPr>
        <p:spPr>
          <a:xfrm>
            <a:off x="3620135" y="647700"/>
            <a:ext cx="187325" cy="1198245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左大括号 4"/>
          <p:cNvSpPr/>
          <p:nvPr/>
        </p:nvSpPr>
        <p:spPr>
          <a:xfrm>
            <a:off x="3630295" y="2712085"/>
            <a:ext cx="154305" cy="91440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左大括号 5"/>
          <p:cNvSpPr/>
          <p:nvPr/>
        </p:nvSpPr>
        <p:spPr>
          <a:xfrm>
            <a:off x="3620135" y="4690745"/>
            <a:ext cx="154305" cy="914400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650615" y="349885"/>
            <a:ext cx="3927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（一）世界进入动荡变革期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20135" y="795655"/>
            <a:ext cx="3927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（二）国际力量对比发生深刻变化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20135" y="1213485"/>
            <a:ext cx="3927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（三）经济全球化遭遇逆流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20135" y="1586230"/>
            <a:ext cx="3927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（四）国际体系和国际秩序深度调整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50615" y="2496820"/>
            <a:ext cx="453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（一）人类是一个整体，地球是一个家园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650615" y="2947035"/>
            <a:ext cx="453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（二）人类命运共同体的提出与内涵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630295" y="3407410"/>
            <a:ext cx="453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（三）弘扬全人类共同价值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620135" y="4307840"/>
            <a:ext cx="473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（一）全面推进中国特色大国外交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620135" y="4822190"/>
            <a:ext cx="473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（二）推动建设新型国际关系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630295" y="5337175"/>
            <a:ext cx="473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（三）积极参与全球治理体系改革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  <p:bldP spid="21" grpId="0"/>
      <p:bldP spid="12" grpId="1"/>
      <p:bldP spid="15" grpId="1"/>
      <p:bldP spid="18" grpId="1"/>
      <p:bldP spid="21" grpId="1"/>
      <p:bldP spid="23" grpId="0"/>
      <p:bldP spid="26" grpId="0"/>
      <p:bldP spid="29" grpId="0"/>
      <p:bldP spid="23" grpId="1"/>
      <p:bldP spid="26" grpId="1"/>
      <p:bldP spid="29" grpId="1"/>
      <p:bldP spid="32" grpId="0"/>
      <p:bldP spid="35" grpId="0"/>
      <p:bldP spid="44" grpId="0"/>
      <p:bldP spid="32" grpId="1"/>
      <p:bldP spid="35" grpId="1"/>
      <p:bldP spid="4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8445" y="1147445"/>
            <a:ext cx="477520" cy="4399915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第十七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全面从严治党</a:t>
            </a:r>
            <a:endParaRPr lang="zh-CN" altLang="en-US" sz="2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861695" y="988060"/>
            <a:ext cx="397510" cy="428117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69365" y="4625340"/>
            <a:ext cx="3469005" cy="9220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三、如何理解全面从严治党这场伟大自我革命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4275" y="2368550"/>
            <a:ext cx="3481705" cy="922020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二、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为什么十八大以来管党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治党宽松软状况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得到根本扭转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5870" y="640715"/>
            <a:ext cx="3419475" cy="506730"/>
          </a:xfrm>
          <a:prstGeom prst="rect">
            <a:avLst/>
          </a:prstGeom>
          <a:solidFill>
            <a:srgbClr val="FF9000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一、为什么要全面从严治党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18" name="文本框 22"/>
          <p:cNvSpPr txBox="1"/>
          <p:nvPr/>
        </p:nvSpPr>
        <p:spPr>
          <a:xfrm>
            <a:off x="4755515" y="35560"/>
            <a:ext cx="529082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（一）从严治党是马克思主义政党的政治优势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19" name="文本框 25"/>
          <p:cNvSpPr txBox="1"/>
          <p:nvPr/>
        </p:nvSpPr>
        <p:spPr>
          <a:xfrm>
            <a:off x="4779645" y="889000"/>
            <a:ext cx="52895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（三）全面从严治党是决定党兴衰成败的关键因素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20" name="文本框 28"/>
          <p:cNvSpPr txBox="1"/>
          <p:nvPr/>
        </p:nvSpPr>
        <p:spPr>
          <a:xfrm>
            <a:off x="4779645" y="481330"/>
            <a:ext cx="526669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（二）全面从严治党是实现民族复兴的根本保证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4755515" y="368300"/>
            <a:ext cx="154305" cy="91440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779" name="文本框 22"/>
          <p:cNvSpPr txBox="1"/>
          <p:nvPr/>
        </p:nvSpPr>
        <p:spPr>
          <a:xfrm>
            <a:off x="4818380" y="3302635"/>
            <a:ext cx="44056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（六）将制度建设贯穿党的各项建设之中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80" name="文本框 25"/>
          <p:cNvSpPr txBox="1"/>
          <p:nvPr/>
        </p:nvSpPr>
        <p:spPr>
          <a:xfrm>
            <a:off x="4818380" y="1908175"/>
            <a:ext cx="44056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（二）全面加强党的思想建设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81" name="文本框 28"/>
          <p:cNvSpPr txBox="1"/>
          <p:nvPr/>
        </p:nvSpPr>
        <p:spPr>
          <a:xfrm>
            <a:off x="4818380" y="2255520"/>
            <a:ext cx="43846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</a:t>
            </a: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全面推进党的组织建设 </a:t>
            </a:r>
            <a:endParaRPr lang="zh-CN" altLang="en-US" sz="18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8782" name="文本框 17"/>
          <p:cNvSpPr txBox="1"/>
          <p:nvPr/>
        </p:nvSpPr>
        <p:spPr>
          <a:xfrm>
            <a:off x="4800600" y="2959100"/>
            <a:ext cx="44056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（五）把纪律的螺丝拧得紧而又紧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83" name="文本框 19"/>
          <p:cNvSpPr txBox="1"/>
          <p:nvPr/>
        </p:nvSpPr>
        <p:spPr>
          <a:xfrm>
            <a:off x="4800600" y="1551940"/>
            <a:ext cx="44056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（一）把党的政治建设摆在首位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84" name="文本框 20"/>
          <p:cNvSpPr txBox="1"/>
          <p:nvPr/>
        </p:nvSpPr>
        <p:spPr>
          <a:xfrm>
            <a:off x="4818380" y="2605405"/>
            <a:ext cx="44056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（四）始终绷紧作风建设这根弦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8785" name="文本框 21"/>
          <p:cNvSpPr txBox="1"/>
          <p:nvPr/>
        </p:nvSpPr>
        <p:spPr>
          <a:xfrm>
            <a:off x="4797425" y="3622040"/>
            <a:ext cx="44056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（七）坚决打赢反腐败斗争攻坚战持久战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4776470" y="1894840"/>
            <a:ext cx="205105" cy="1955800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>
            <a:off x="4807585" y="4475480"/>
            <a:ext cx="316230" cy="1066165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9258" name="文本框 22"/>
          <p:cNvSpPr txBox="1"/>
          <p:nvPr/>
        </p:nvSpPr>
        <p:spPr>
          <a:xfrm>
            <a:off x="4909820" y="4185920"/>
            <a:ext cx="5686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（一）勇于自我革命是跳出历史周期率的第二个答案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9259" name="文本框 25"/>
          <p:cNvSpPr txBox="1"/>
          <p:nvPr/>
        </p:nvSpPr>
        <p:spPr>
          <a:xfrm>
            <a:off x="4909820" y="4717415"/>
            <a:ext cx="646684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（二）全面从严治党以其丰富内涵诠释了自我革命的内在要求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049260" name="文本框 28"/>
          <p:cNvSpPr txBox="1"/>
          <p:nvPr/>
        </p:nvSpPr>
        <p:spPr>
          <a:xfrm>
            <a:off x="4909820" y="5197475"/>
            <a:ext cx="572389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C00000"/>
              </a:buClr>
              <a:buSzPct val="80000"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（三）全面从严治党推进自我革命不断走向深入</a:t>
            </a:r>
            <a:endParaRPr lang="zh-CN" altLang="en-US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4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4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4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4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4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4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4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4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4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49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49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49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49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4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49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49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4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8" grpId="0"/>
      <p:bldP spid="1048720" grpId="0"/>
      <p:bldP spid="1048719" grpId="0"/>
      <p:bldP spid="1048718" grpId="1"/>
      <p:bldP spid="1048720" grpId="1"/>
      <p:bldP spid="1048719" grpId="1"/>
      <p:bldP spid="1048779" grpId="0"/>
      <p:bldP spid="1048780" grpId="0"/>
      <p:bldP spid="1048781" grpId="0"/>
      <p:bldP spid="1048782" grpId="0"/>
      <p:bldP spid="1048783" grpId="0"/>
      <p:bldP spid="1048784" grpId="0"/>
      <p:bldP spid="1048785" grpId="0"/>
      <p:bldP spid="1048779" grpId="1"/>
      <p:bldP spid="1048780" grpId="1"/>
      <p:bldP spid="1048781" grpId="1"/>
      <p:bldP spid="1048782" grpId="1"/>
      <p:bldP spid="1048783" grpId="1"/>
      <p:bldP spid="1048784" grpId="1"/>
      <p:bldP spid="1048785" grpId="1"/>
      <p:bldP spid="1049258" grpId="0"/>
      <p:bldP spid="1049259" grpId="0"/>
      <p:bldP spid="1049260" grpId="0"/>
      <p:bldP spid="1049258" grpId="1"/>
      <p:bldP spid="1049259" grpId="1"/>
      <p:bldP spid="104926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994015" y="3238500"/>
            <a:ext cx="4197985" cy="361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5"/>
            <a:ext cx="3722370" cy="30473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-635" y="3048000"/>
            <a:ext cx="3723640" cy="381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23005" y="0"/>
            <a:ext cx="4208145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6"/>
          <a:stretch>
            <a:fillRect/>
          </a:stretch>
        </p:blipFill>
        <p:spPr>
          <a:xfrm>
            <a:off x="8072120" y="0"/>
            <a:ext cx="4119880" cy="37249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7" name="Rectangle 2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/>
          <a:lstStyle/>
          <a:p>
            <a:pPr eaLnBrk="1" hangingPunct="1"/>
            <a:endParaRPr lang="zh-CN" altLang="zh-CN" smtClean="0"/>
          </a:p>
        </p:txBody>
      </p:sp>
      <p:sp>
        <p:nvSpPr>
          <p:cNvPr id="244738" name="Rectangle 3"/>
          <p:cNvSpPr>
            <a:spLocks noGrp="1"/>
          </p:cNvSpPr>
          <p:nvPr>
            <p:ph idx="1"/>
          </p:nvPr>
        </p:nvSpPr>
        <p:spPr/>
        <p:txBody>
          <a:bodyPr lIns="91440" tIns="45720" rIns="91440" bIns="45720"/>
          <a:lstStyle/>
          <a:p>
            <a:pPr eaLnBrk="1" hangingPunct="1"/>
            <a:endParaRPr lang="zh-CN" altLang="zh-CN" smtClean="0"/>
          </a:p>
        </p:txBody>
      </p:sp>
      <p:pic>
        <p:nvPicPr>
          <p:cNvPr id="105" name="图片 104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UNIT_PLACING_PICTURE_USER_VIEWPORT" val="{&quot;height&quot;:725,&quot;width&quot;:12282.993700787401}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COMMONDATA" val="eyJoZGlkIjoiMmU4N2QyYTU1MjAzNWVmMDhhNDMxOGQyZDhmZjhhZjUifQ=="/>
  <p:tag name="KSO_WPP_MARK_KEY" val="60faf108-a574-452d-b265-abdaa2560f7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63000">
              <a:srgbClr val="FFFDEB"/>
            </a:gs>
            <a:gs pos="100000">
              <a:schemeClr val="bg1">
                <a:alpha val="0"/>
              </a:schemeClr>
            </a:gs>
          </a:gsLst>
          <a:lin ang="10800000" scaled="0"/>
        </a:gradFill>
        <a:ln>
          <a:gradFill>
            <a:gsLst>
              <a:gs pos="14000">
                <a:srgbClr val="FFFDFD"/>
              </a:gs>
              <a:gs pos="55000">
                <a:srgbClr val="C00000"/>
              </a:gs>
            </a:gsLst>
            <a:lin ang="0" scaled="1"/>
          </a:gra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5799</Words>
  <Application>WPS 演示</Application>
  <PresentationFormat>宽屏</PresentationFormat>
  <Paragraphs>648</Paragraphs>
  <Slides>20</Slides>
  <Notes>28</Notes>
  <HiddenSlides>0</HiddenSlides>
  <MMClips>4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华文中宋</vt:lpstr>
      <vt:lpstr>华文新魏</vt:lpstr>
      <vt:lpstr>Times New Roman</vt:lpstr>
      <vt:lpstr>Arial Unicode MS</vt:lpstr>
      <vt:lpstr>等线</vt:lpstr>
      <vt:lpstr>黑体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dell</cp:lastModifiedBy>
  <cp:revision>17</cp:revision>
  <dcterms:created xsi:type="dcterms:W3CDTF">2023-05-23T13:24:00Z</dcterms:created>
  <dcterms:modified xsi:type="dcterms:W3CDTF">2023-06-13T14:52:52Z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7219F15298C9D41482E456641DD39DB6</vt:lpwstr>
  </property>
  <property fmtid="{D5CDD505-2E9C-101B-9397-08002B2CF9AE}" pid="3" name="KSOProductBuildVer">
    <vt:lpwstr>2052-11.1.0.14309</vt:lpwstr>
  </property>
</Properties>
</file>